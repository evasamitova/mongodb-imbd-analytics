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52"/>
  </p:notesMasterIdLst>
  <p:sldIdLst>
    <p:sldId id="256" r:id="rId2"/>
    <p:sldId id="304" r:id="rId3"/>
    <p:sldId id="389" r:id="rId4"/>
    <p:sldId id="351" r:id="rId5"/>
    <p:sldId id="305" r:id="rId6"/>
    <p:sldId id="306" r:id="rId7"/>
    <p:sldId id="307" r:id="rId8"/>
    <p:sldId id="308" r:id="rId9"/>
    <p:sldId id="309" r:id="rId10"/>
    <p:sldId id="266" r:id="rId11"/>
    <p:sldId id="345" r:id="rId12"/>
    <p:sldId id="347" r:id="rId13"/>
    <p:sldId id="267" r:id="rId14"/>
    <p:sldId id="325" r:id="rId15"/>
    <p:sldId id="303" r:id="rId16"/>
    <p:sldId id="349" r:id="rId17"/>
    <p:sldId id="302" r:id="rId18"/>
    <p:sldId id="393" r:id="rId19"/>
    <p:sldId id="314" r:id="rId20"/>
    <p:sldId id="394" r:id="rId21"/>
    <p:sldId id="321" r:id="rId22"/>
    <p:sldId id="322" r:id="rId23"/>
    <p:sldId id="327" r:id="rId24"/>
    <p:sldId id="328" r:id="rId25"/>
    <p:sldId id="354" r:id="rId26"/>
    <p:sldId id="329" r:id="rId27"/>
    <p:sldId id="391" r:id="rId28"/>
    <p:sldId id="330" r:id="rId29"/>
    <p:sldId id="395" r:id="rId30"/>
    <p:sldId id="331" r:id="rId31"/>
    <p:sldId id="332" r:id="rId32"/>
    <p:sldId id="333" r:id="rId33"/>
    <p:sldId id="350" r:id="rId34"/>
    <p:sldId id="334" r:id="rId35"/>
    <p:sldId id="336" r:id="rId36"/>
    <p:sldId id="392" r:id="rId37"/>
    <p:sldId id="337" r:id="rId38"/>
    <p:sldId id="338" r:id="rId39"/>
    <p:sldId id="339" r:id="rId40"/>
    <p:sldId id="340" r:id="rId41"/>
    <p:sldId id="341" r:id="rId42"/>
    <p:sldId id="396" r:id="rId43"/>
    <p:sldId id="342" r:id="rId44"/>
    <p:sldId id="343" r:id="rId45"/>
    <p:sldId id="296" r:id="rId46"/>
    <p:sldId id="298" r:id="rId47"/>
    <p:sldId id="324" r:id="rId48"/>
    <p:sldId id="344" r:id="rId49"/>
    <p:sldId id="353" r:id="rId50"/>
    <p:sldId id="297" r:id="rId5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F65401-6CEC-4063-99C2-11DE1C7F240E}">
  <a:tblStyle styleId="{B0F65401-6CEC-4063-99C2-11DE1C7F240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nis Samitov" userId="a3b1c472f72db2ea" providerId="LiveId" clId="{9DAA04E3-30ED-48A2-A195-ED6B7BC171A9}"/>
    <pc:docChg chg="modSld">
      <pc:chgData name="Denis Samitov" userId="a3b1c472f72db2ea" providerId="LiveId" clId="{9DAA04E3-30ED-48A2-A195-ED6B7BC171A9}" dt="2024-10-01T20:10:23.339" v="0" actId="15"/>
      <pc:docMkLst>
        <pc:docMk/>
      </pc:docMkLst>
      <pc:sldChg chg="modSp mod">
        <pc:chgData name="Denis Samitov" userId="a3b1c472f72db2ea" providerId="LiveId" clId="{9DAA04E3-30ED-48A2-A195-ED6B7BC171A9}" dt="2024-10-01T20:10:23.339" v="0" actId="15"/>
        <pc:sldMkLst>
          <pc:docMk/>
          <pc:sldMk cId="3463330217" sldId="302"/>
        </pc:sldMkLst>
        <pc:spChg chg="mod">
          <ac:chgData name="Denis Samitov" userId="a3b1c472f72db2ea" providerId="LiveId" clId="{9DAA04E3-30ED-48A2-A195-ED6B7BC171A9}" dt="2024-10-01T20:10:23.339" v="0" actId="15"/>
          <ac:spMkLst>
            <pc:docMk/>
            <pc:sldMk cId="3463330217" sldId="302"/>
            <ac:spMk id="3" creationId="{7B57E71C-D960-451E-AB0B-5986F5219EB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8349322673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8349322673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8614ca8bfb_0_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8614ca8bfb_0_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143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431009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2214552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36030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384301"/>
            <a:ext cx="3703320" cy="3017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214354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384539"/>
            <a:ext cx="3703320" cy="55221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1936751"/>
            <a:ext cx="3703320" cy="2533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1145065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5144308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825479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45769"/>
            <a:ext cx="2400300" cy="17145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548640"/>
            <a:ext cx="4869180" cy="39433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194560"/>
            <a:ext cx="2400300" cy="2534343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4844839"/>
            <a:ext cx="1963883" cy="273844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4844839"/>
            <a:ext cx="3486150" cy="273844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884576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714750"/>
            <a:ext cx="9141619" cy="142875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368630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3806190"/>
            <a:ext cx="7584948" cy="61722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3686307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4430267"/>
            <a:ext cx="7584948" cy="44577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845042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2179229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11084"/>
            <a:ext cx="1971675" cy="43180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11083"/>
            <a:ext cx="5800725" cy="4318067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132522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04743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207633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8595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4750737"/>
            <a:ext cx="9144001" cy="494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384301"/>
            <a:ext cx="7543800" cy="301752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4844839"/>
            <a:ext cx="18542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10/1/2024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4844839"/>
            <a:ext cx="361710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4844839"/>
            <a:ext cx="98401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‹#›</a:t>
            </a:fld>
            <a:endParaRPr lang="en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303384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356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  <p:sldLayoutId id="2147483675" r:id="rId14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bloomberg.com/news/articles/2022-07-24/-nope-tops-box-office-in-latest-win-for-director-jordan-peele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atatofish.com/add-python-to-windows-path/" TargetMode="External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brew.sh/" TargetMode="Externa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markdownguide.org/cheat-sheet/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zetcode.com/python/urllib3/" TargetMode="Externa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hubspot.com/website/what-is-utf-8" TargetMode="External"/><Relationship Id="rId2" Type="http://schemas.openxmlformats.org/officeDocument/2006/relationships/hyperlink" Target="https://en.wikipedia.org/wiki/UTF-8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ww.programiz.com/python-programming/string-interpolation" TargetMode="Externa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hyperlink" Target="https://www.w3schools.com/python/python_regex.asp" TargetMode="Externa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codex/practical-data-analytics-for-movies-89f44d04712d" TargetMode="External"/><Relationship Id="rId2" Type="http://schemas.openxmlformats.org/officeDocument/2006/relationships/hyperlink" Target="https://medium.com/tedspence-com/teaching-python-and-jupyter-cbffb68e2194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tspence/data-analysis-class-resources" TargetMode="External"/><Relationship Id="rId4" Type="http://schemas.openxmlformats.org/officeDocument/2006/relationships/hyperlink" Target="https://medium.com/codex/what-makes-a-jupyter-notebook-good-45ab30623f24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822960" y="569214"/>
            <a:ext cx="7543800" cy="2674620"/>
          </a:xfr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Advanced web scraping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825038" y="3341715"/>
            <a:ext cx="7543800" cy="857250"/>
          </a:xfr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Using </a:t>
            </a:r>
            <a:r>
              <a:rPr lang="en-US" dirty="0" err="1"/>
              <a:t>jupyter</a:t>
            </a:r>
            <a:r>
              <a:rPr lang="en-US" dirty="0"/>
              <a:t> for automated data collection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7836C9-B6E6-4931-BD41-90A1B55D2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Week’s Assignment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8875C5-D936-449E-B4D3-5C5AD2E81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 regular expressions</a:t>
            </a:r>
          </a:p>
        </p:txBody>
      </p:sp>
    </p:spTree>
    <p:extLst>
      <p:ext uri="{BB962C8B-B14F-4D97-AF65-F5344CB8AC3E}">
        <p14:creationId xmlns:p14="http://schemas.microsoft.com/office/powerpoint/2010/main" val="1867639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64FFAA-F682-8091-719F-318EB8FE6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Metacritic site redesign!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885375-7AAF-EABB-41CD-38260AF0A0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items are easy to deal with</a:t>
            </a:r>
          </a:p>
          <a:p>
            <a:pPr lvl="1"/>
            <a:r>
              <a:rPr lang="en-US" dirty="0"/>
              <a:t>We can still scrape titles, descriptions, scores</a:t>
            </a:r>
          </a:p>
          <a:p>
            <a:r>
              <a:rPr lang="en-US" dirty="0"/>
              <a:t>Other items are harder</a:t>
            </a:r>
          </a:p>
          <a:p>
            <a:pPr lvl="1"/>
            <a:r>
              <a:rPr lang="en-US" dirty="0"/>
              <a:t>Search for a specific year no longer works well</a:t>
            </a:r>
          </a:p>
          <a:p>
            <a:pPr lvl="1"/>
            <a:r>
              <a:rPr lang="en-US" dirty="0"/>
              <a:t>Movies without a thumbnail are problematic</a:t>
            </a:r>
          </a:p>
          <a:p>
            <a:pPr lvl="1"/>
            <a:r>
              <a:rPr lang="en-US" dirty="0"/>
              <a:t>Thumbnail URLs used to have “&amp;amp;” in them</a:t>
            </a:r>
          </a:p>
          <a:p>
            <a:pPr lvl="1"/>
            <a:r>
              <a:rPr lang="en-US" dirty="0"/>
              <a:t>Now thumbnail URLs are computed on the fly!</a:t>
            </a:r>
          </a:p>
          <a:p>
            <a:r>
              <a:rPr lang="en-US" dirty="0"/>
              <a:t>We will focus on what is possible</a:t>
            </a:r>
          </a:p>
          <a:p>
            <a:pPr lvl="1"/>
            <a:r>
              <a:rPr lang="en-US" dirty="0"/>
              <a:t>We won’t gather thumbnail URLs</a:t>
            </a:r>
          </a:p>
          <a:p>
            <a:pPr lvl="1"/>
            <a:r>
              <a:rPr lang="en-US" dirty="0"/>
              <a:t>(To gather them, we’d have to use selenium and DOM parsing – see me after class if interested)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9467FB9-2DCB-87F1-9008-0529A017E5B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64075" y="1816379"/>
            <a:ext cx="3702050" cy="21536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6745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57A3617-0DE8-42EA-0404-3F2124C01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we building?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778C493-80FA-9E6F-42B0-10F756C143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class project is a </a:t>
            </a:r>
            <a:r>
              <a:rPr lang="en-US" b="1" dirty="0"/>
              <a:t>data analysis project using movie box office data</a:t>
            </a:r>
            <a:endParaRPr lang="en-US" dirty="0"/>
          </a:p>
          <a:p>
            <a:r>
              <a:rPr lang="en-US" dirty="0"/>
              <a:t>Box office data is generally publicly available and rarely considered secret</a:t>
            </a:r>
          </a:p>
          <a:p>
            <a:r>
              <a:rPr lang="en-US" dirty="0"/>
              <a:t>We will gather data from </a:t>
            </a:r>
            <a:r>
              <a:rPr lang="en-US" b="1" dirty="0"/>
              <a:t>IMDB</a:t>
            </a:r>
            <a:r>
              <a:rPr lang="en-US" dirty="0"/>
              <a:t> and </a:t>
            </a:r>
            <a:r>
              <a:rPr lang="en-US" b="1" dirty="0"/>
              <a:t>Metacritic</a:t>
            </a:r>
          </a:p>
          <a:p>
            <a:r>
              <a:rPr lang="en-US" dirty="0"/>
              <a:t>The end result is a </a:t>
            </a:r>
            <a:r>
              <a:rPr lang="en-US" b="1" dirty="0" err="1"/>
              <a:t>Jupyter</a:t>
            </a:r>
            <a:r>
              <a:rPr lang="en-US" b="1" dirty="0"/>
              <a:t> notebook</a:t>
            </a:r>
            <a:r>
              <a:rPr lang="en-US" dirty="0"/>
              <a:t> with charts about movie revenue</a:t>
            </a:r>
          </a:p>
          <a:p>
            <a:r>
              <a:rPr lang="en-US" dirty="0"/>
              <a:t>We can make realistic and relevant charts with data that is easy to collect and verify</a:t>
            </a:r>
          </a:p>
          <a:p>
            <a:r>
              <a:rPr lang="en-US" sz="1100" dirty="0"/>
              <a:t>Source: Bloomberg / </a:t>
            </a:r>
            <a:r>
              <a:rPr lang="en-US" sz="1100" dirty="0" err="1"/>
              <a:t>Comscore</a:t>
            </a:r>
            <a:r>
              <a:rPr lang="en-US" sz="1100" dirty="0"/>
              <a:t> - </a:t>
            </a:r>
            <a:r>
              <a:rPr lang="en-US" sz="1100" dirty="0">
                <a:hlinkClick r:id="rId2"/>
              </a:rPr>
              <a:t>https://www.bloomberg.com/news/articles/2022-07-24/-nope-tops-box-office-in-latest-win-for-director-jordan-peele</a:t>
            </a:r>
            <a:r>
              <a:rPr lang="en-US" sz="1100" dirty="0"/>
              <a:t> 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A583F26-21FD-16DA-F8A0-FF83FEDE122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64075" y="1710620"/>
            <a:ext cx="3702050" cy="23651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10129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26B2D3-C653-4B01-8F30-A549A3058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you making us learn Regex?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C17910-ABA9-4F2C-B61E-0983E5FB1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one of those really wacky bits of software that has stood the test of time</a:t>
            </a:r>
          </a:p>
          <a:p>
            <a:r>
              <a:rPr lang="en-US" dirty="0"/>
              <a:t>I learned Regex in the late ‘80s and hated them then</a:t>
            </a:r>
          </a:p>
          <a:p>
            <a:r>
              <a:rPr lang="en-US" dirty="0"/>
              <a:t>If there was really a better alternative, it would have been created by now</a:t>
            </a:r>
          </a:p>
          <a:p>
            <a:r>
              <a:rPr lang="en-US" dirty="0"/>
              <a:t>But, it hasn’t, so maybe it’s time to acknowledge that this is a fundamental algorithm</a:t>
            </a:r>
          </a:p>
          <a:p>
            <a:r>
              <a:rPr lang="en-US" dirty="0"/>
              <a:t>The concept of searching has changed a lot but the technology hasn’t</a:t>
            </a:r>
          </a:p>
          <a:p>
            <a:r>
              <a:rPr lang="en-US" dirty="0"/>
              <a:t>Most importantly:</a:t>
            </a:r>
          </a:p>
          <a:p>
            <a:pPr lvl="1"/>
            <a:r>
              <a:rPr lang="en-US" dirty="0"/>
              <a:t>You can write and test regular expressions by hand …</a:t>
            </a:r>
          </a:p>
          <a:p>
            <a:pPr lvl="1"/>
            <a:r>
              <a:rPr lang="en-US" dirty="0"/>
              <a:t>And then automate them! (more on that in a moment)</a:t>
            </a:r>
          </a:p>
        </p:txBody>
      </p:sp>
    </p:spTree>
    <p:extLst>
      <p:ext uri="{BB962C8B-B14F-4D97-AF65-F5344CB8AC3E}">
        <p14:creationId xmlns:p14="http://schemas.microsoft.com/office/powerpoint/2010/main" val="1539750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F5A3B-90BE-4570-A97A-A994F36A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the professor write regex?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437C149-5082-4336-B684-364758A90E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Find the thing you want in the text manually</a:t>
            </a:r>
          </a:p>
          <a:p>
            <a:r>
              <a:rPr lang="en-US" dirty="0"/>
              <a:t>Try to identify a bit of text leading up to the thing you want that seems unique</a:t>
            </a:r>
          </a:p>
          <a:p>
            <a:pPr lvl="1"/>
            <a:r>
              <a:rPr lang="en-US" dirty="0"/>
              <a:t>In this case, the uniqueness is “class=title”</a:t>
            </a:r>
          </a:p>
          <a:p>
            <a:pPr lvl="1"/>
            <a:r>
              <a:rPr lang="en-US" dirty="0"/>
              <a:t>The goal is to make sure that this unique bit of text only appears once for each result you want</a:t>
            </a:r>
          </a:p>
          <a:p>
            <a:pPr lvl="1"/>
            <a:r>
              <a:rPr lang="en-US" dirty="0"/>
              <a:t>Without uniqueness, your regular expressions will be </a:t>
            </a:r>
            <a:r>
              <a:rPr lang="en-US" i="1" dirty="0"/>
              <a:t>brittle </a:t>
            </a:r>
            <a:r>
              <a:rPr lang="en-US" dirty="0"/>
              <a:t>and might stop working</a:t>
            </a:r>
          </a:p>
          <a:p>
            <a:r>
              <a:rPr lang="en-US" dirty="0"/>
              <a:t>Identify a little bit of text afterwards that seems unique</a:t>
            </a:r>
          </a:p>
          <a:p>
            <a:pPr lvl="1"/>
            <a:r>
              <a:rPr lang="en-US" dirty="0"/>
              <a:t>This is less critical – the only requirement is that it won’t appear within the text itself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DC64ECB-FEF3-4A9A-BBD2-0972C035AE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64075" y="1685011"/>
            <a:ext cx="3702050" cy="24164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419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F5A3B-90BE-4570-A97A-A994F36AC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Useful information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437C149-5082-4336-B684-364758A90E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beginning is easy to find</a:t>
            </a:r>
          </a:p>
          <a:p>
            <a:pPr lvl="1"/>
            <a:r>
              <a:rPr lang="en-US" dirty="0"/>
              <a:t>We can be pretty sure that only titles will have “class=title” in them</a:t>
            </a:r>
          </a:p>
          <a:p>
            <a:r>
              <a:rPr lang="en-US" dirty="0"/>
              <a:t>The capture group</a:t>
            </a:r>
          </a:p>
          <a:p>
            <a:pPr lvl="1"/>
            <a:r>
              <a:rPr lang="en-US" dirty="0"/>
              <a:t>Usually (.*) but sometimes (.*?)</a:t>
            </a:r>
          </a:p>
          <a:p>
            <a:r>
              <a:rPr lang="en-US" dirty="0"/>
              <a:t>The ending is less easy</a:t>
            </a:r>
          </a:p>
          <a:p>
            <a:pPr lvl="1"/>
            <a:r>
              <a:rPr lang="en-US" dirty="0"/>
              <a:t>But then again, we know that no movies have ever had &lt;/h3&gt; in their name, right?</a:t>
            </a:r>
          </a:p>
          <a:p>
            <a:r>
              <a:rPr lang="en-US" dirty="0"/>
              <a:t>If any of your text has symbols in it, remember to </a:t>
            </a:r>
            <a:r>
              <a:rPr lang="en-US" b="1" i="1" dirty="0"/>
              <a:t>escape </a:t>
            </a:r>
            <a:r>
              <a:rPr lang="en-US" dirty="0"/>
              <a:t>them with backslashes – they must be encoded to work in a regular expression</a:t>
            </a:r>
            <a:endParaRPr lang="en-US" b="1" i="1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DC64ECB-FEF3-4A9A-BBD2-0972C035AE0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64075" y="1685011"/>
            <a:ext cx="3702050" cy="24164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6896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B23E6-8A85-4705-AA51-F7ADA4F60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“Escaping” or “Encoding”?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E9DD1C-C4D7-47C1-8EAB-71AD059925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Programmers often need to use text and special characters at the same time</a:t>
            </a:r>
          </a:p>
          <a:p>
            <a:r>
              <a:rPr lang="en-US" dirty="0"/>
              <a:t>Text is data</a:t>
            </a:r>
          </a:p>
          <a:p>
            <a:r>
              <a:rPr lang="en-US" dirty="0"/>
              <a:t>Special characters control the program</a:t>
            </a:r>
          </a:p>
          <a:p>
            <a:r>
              <a:rPr lang="en-US" dirty="0"/>
              <a:t>If text contains a special character, how does the computer know which is which?</a:t>
            </a:r>
          </a:p>
          <a:p>
            <a:r>
              <a:rPr lang="en-US" dirty="0"/>
              <a:t>The answer is encoding</a:t>
            </a:r>
          </a:p>
          <a:p>
            <a:r>
              <a:rPr lang="en-US" dirty="0"/>
              <a:t>The computer is in a “mode” – and the use of a special escape character switches modes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EEF516-FB56-4F8B-872C-CD77233EDB4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</a:rPr>
              <a:t>Examples:</a:t>
            </a:r>
          </a:p>
          <a:p>
            <a:r>
              <a:rPr lang="en-US" dirty="0">
                <a:latin typeface="Consolas" panose="020B0609020204030204" pitchFamily="49" charset="0"/>
              </a:rPr>
              <a:t>\s -&gt; Instead of searching for a backslash followed by an S, search for any whitespace character</a:t>
            </a:r>
          </a:p>
          <a:p>
            <a:r>
              <a:rPr lang="en-US" dirty="0">
                <a:latin typeface="Consolas" panose="020B0609020204030204" pitchFamily="49" charset="0"/>
              </a:rPr>
              <a:t>\B -&gt; Search for a word boundary</a:t>
            </a:r>
          </a:p>
          <a:p>
            <a:r>
              <a:rPr lang="en-US" dirty="0">
                <a:latin typeface="Consolas" panose="020B0609020204030204" pitchFamily="49" charset="0"/>
              </a:rPr>
              <a:t>\\ -&gt; Two backslashes mean search for a backslash!</a:t>
            </a:r>
          </a:p>
        </p:txBody>
      </p:sp>
    </p:spTree>
    <p:extLst>
      <p:ext uri="{BB962C8B-B14F-4D97-AF65-F5344CB8AC3E}">
        <p14:creationId xmlns:p14="http://schemas.microsoft.com/office/powerpoint/2010/main" val="857417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DE182A8-944F-44E4-826D-EFC5890A7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we going to do with regex?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37B9EE-E0A1-4A2B-8A0A-75A8C9793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 that we’ve written these regular expressions, we’re going to automate them!</a:t>
            </a:r>
          </a:p>
          <a:p>
            <a:r>
              <a:rPr lang="en-US" dirty="0"/>
              <a:t>Let’s get started downloading some tools that will let us use regex to do work.</a:t>
            </a:r>
          </a:p>
          <a:p>
            <a:endParaRPr lang="en-US" dirty="0"/>
          </a:p>
          <a:p>
            <a:r>
              <a:rPr lang="en-US" dirty="0"/>
              <a:t>Our software will take the regular expressions we wrote and apply them automatically to solve lots of problems for us!</a:t>
            </a:r>
          </a:p>
        </p:txBody>
      </p:sp>
    </p:spTree>
    <p:extLst>
      <p:ext uri="{BB962C8B-B14F-4D97-AF65-F5344CB8AC3E}">
        <p14:creationId xmlns:p14="http://schemas.microsoft.com/office/powerpoint/2010/main" val="2457031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Automating data collection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89F0AD6-E843-433E-9EB4-F3A7CBCD8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22960" y="3339846"/>
            <a:ext cx="7543800" cy="857250"/>
          </a:xfrm>
        </p:spPr>
        <p:txBody>
          <a:bodyPr/>
          <a:lstStyle/>
          <a:p>
            <a:r>
              <a:rPr lang="en-US" dirty="0"/>
              <a:t>Tools and techniques we use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7916B-6038-4F99-8BFF-DD756493C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Python (Windows)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63E58-A28C-499E-97A7-E1F498BB4C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https://www.python.org/downloads/</a:t>
            </a:r>
            <a:endParaRPr lang="en-US" dirty="0"/>
          </a:p>
          <a:p>
            <a:r>
              <a:rPr lang="en-US" dirty="0"/>
              <a:t>Install from the python.org website</a:t>
            </a:r>
          </a:p>
          <a:p>
            <a:pPr lvl="1"/>
            <a:r>
              <a:rPr lang="en-US" dirty="0"/>
              <a:t>DO NOT use the Microsoft Store version</a:t>
            </a:r>
          </a:p>
          <a:p>
            <a:r>
              <a:rPr lang="en-US" dirty="0"/>
              <a:t>Make sure to reboot computer after</a:t>
            </a:r>
          </a:p>
          <a:p>
            <a:r>
              <a:rPr lang="en-US" dirty="0"/>
              <a:t>Check that it installed successfully</a:t>
            </a:r>
          </a:p>
          <a:p>
            <a:r>
              <a:rPr lang="en-US" dirty="0"/>
              <a:t>Launch PowerShell </a:t>
            </a:r>
          </a:p>
          <a:p>
            <a:pPr lvl="1"/>
            <a:r>
              <a:rPr lang="en-US" dirty="0"/>
              <a:t>Run </a:t>
            </a:r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python --version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If it succeeded, you’ll get 3.10 or higher</a:t>
            </a:r>
          </a:p>
          <a:p>
            <a:pPr lvl="1"/>
            <a:r>
              <a:rPr lang="en-US" dirty="0"/>
              <a:t>If it fails, </a:t>
            </a:r>
            <a:r>
              <a:rPr lang="en-US" dirty="0">
                <a:hlinkClick r:id="rId3"/>
              </a:rPr>
              <a:t>https://datatofish.com/add-python-to-windows-path/</a:t>
            </a:r>
            <a:r>
              <a:rPr lang="en-US" dirty="0"/>
              <a:t>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6567A0D-EF89-4754-B830-8C92D124A86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664075" y="1533802"/>
            <a:ext cx="3702050" cy="27188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20763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7916B-6038-4F99-8BFF-DD756493C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Python (Mac)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63E58-A28C-499E-97A7-E1F498BB4C6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want to use the “Homebrew Package Manager”</a:t>
            </a:r>
          </a:p>
          <a:p>
            <a:pPr lvl="1"/>
            <a:r>
              <a:rPr lang="en-US" dirty="0"/>
              <a:t>Visit </a:t>
            </a:r>
            <a:r>
              <a:rPr lang="en-US" dirty="0">
                <a:hlinkClick r:id="rId2"/>
              </a:rPr>
              <a:t>https://brew.sh/</a:t>
            </a:r>
            <a:endParaRPr lang="en-US" dirty="0"/>
          </a:p>
          <a:p>
            <a:pPr lvl="1"/>
            <a:r>
              <a:rPr lang="en-US" dirty="0"/>
              <a:t>Run the install instructions provided</a:t>
            </a:r>
          </a:p>
          <a:p>
            <a:pPr lvl="1"/>
            <a:r>
              <a:rPr lang="en-US" dirty="0"/>
              <a:t>Reboot your mac</a:t>
            </a:r>
          </a:p>
          <a:p>
            <a:r>
              <a:rPr lang="en-US" dirty="0"/>
              <a:t>After reboot</a:t>
            </a:r>
          </a:p>
          <a:p>
            <a:pPr lvl="1"/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brew install python</a:t>
            </a:r>
          </a:p>
          <a:p>
            <a:pPr lvl="1"/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python --version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If it succeeded, you’ll get 3.10 or higher</a:t>
            </a:r>
          </a:p>
          <a:p>
            <a:pPr lvl="1"/>
            <a:r>
              <a:rPr lang="en-US" dirty="0"/>
              <a:t>If you get version 2.X, try running </a:t>
            </a:r>
            <a:br>
              <a:rPr lang="en-US" dirty="0"/>
            </a:br>
            <a:r>
              <a:rPr lang="en-US" dirty="0">
                <a:highlight>
                  <a:srgbClr val="C0C0C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python3 --version</a:t>
            </a:r>
            <a:r>
              <a:rPr lang="en-US" dirty="0"/>
              <a:t>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9182796-2D2A-45F1-ACDA-8827D79A179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64075" y="1533907"/>
            <a:ext cx="3702050" cy="27186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1513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Visual Studio Code Editor</a:t>
            </a:r>
          </a:p>
        </p:txBody>
      </p:sp>
      <p:sp>
        <p:nvSpPr>
          <p:cNvPr id="121" name="Google Shape;121;p24"/>
          <p:cNvSpPr txBox="1"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rPr lang="en-US" dirty="0"/>
              <a:t>An open-source platform for tools</a:t>
            </a:r>
          </a:p>
          <a:p>
            <a:pPr lvl="1"/>
            <a:r>
              <a:rPr lang="en-US" dirty="0"/>
              <a:t>Because it is open, chances are someone has already created a plugin to help with whatever you’re doing</a:t>
            </a:r>
          </a:p>
          <a:p>
            <a:pPr lvl="0"/>
            <a:r>
              <a:rPr lang="en-US" dirty="0">
                <a:hlinkClick r:id="rId3"/>
              </a:rPr>
              <a:t>https://code.visualstudio.com</a:t>
            </a:r>
            <a:r>
              <a:rPr lang="en-US" dirty="0"/>
              <a:t> and click download</a:t>
            </a:r>
          </a:p>
          <a:p>
            <a:pPr lvl="0"/>
            <a:r>
              <a:rPr lang="en-US" dirty="0"/>
              <a:t>Works on Linux, PC, and Mac</a:t>
            </a:r>
          </a:p>
          <a:p>
            <a:pPr lvl="0"/>
            <a:r>
              <a:rPr lang="en-US" dirty="0"/>
              <a:t>Includes support for </a:t>
            </a:r>
            <a:r>
              <a:rPr lang="en-US" dirty="0" err="1"/>
              <a:t>Jupyter</a:t>
            </a:r>
            <a:r>
              <a:rPr lang="en-US" dirty="0"/>
              <a:t> notebooks!</a:t>
            </a:r>
          </a:p>
          <a:p>
            <a:pPr lvl="1"/>
            <a:r>
              <a:rPr lang="en-US" dirty="0"/>
              <a:t>We’ll use a VS Code Extension</a:t>
            </a:r>
          </a:p>
        </p:txBody>
      </p:sp>
      <p:pic>
        <p:nvPicPr>
          <p:cNvPr id="9" name="Google Shape;122;p24">
            <a:extLst>
              <a:ext uri="{FF2B5EF4-FFF2-40B4-BE49-F238E27FC236}">
                <a16:creationId xmlns:a16="http://schemas.microsoft.com/office/drawing/2014/main" id="{A7360AFB-1F64-4898-9E69-EA8C43824EC5}"/>
              </a:ext>
            </a:extLst>
          </p:cNvPr>
          <p:cNvPicPr preferRelativeResize="0">
            <a:picLocks noGrp="1"/>
          </p:cNvPicPr>
          <p:nvPr>
            <p:ph sz="half" idx="2"/>
          </p:nvPr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4075" y="1668276"/>
            <a:ext cx="3702050" cy="24498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AB6AC79-31B9-426D-95B1-745512C30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your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291532-75A6-4F37-B589-830AD12B12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Steps to set up a </a:t>
            </a:r>
            <a:r>
              <a:rPr lang="en-US" dirty="0" err="1"/>
              <a:t>jupyter</a:t>
            </a:r>
            <a:r>
              <a:rPr lang="en-US" dirty="0"/>
              <a:t> project</a:t>
            </a:r>
          </a:p>
        </p:txBody>
      </p:sp>
    </p:spTree>
    <p:extLst>
      <p:ext uri="{BB962C8B-B14F-4D97-AF65-F5344CB8AC3E}">
        <p14:creationId xmlns:p14="http://schemas.microsoft.com/office/powerpoint/2010/main" val="840154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CAC26-66F3-4F50-B91F-0094DF142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it all together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1B378-085F-4170-B8A6-2A3F6A8DF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Here’s what we’re going to do:</a:t>
            </a:r>
          </a:p>
          <a:p>
            <a:pPr lvl="1"/>
            <a:r>
              <a:rPr lang="en-US" dirty="0"/>
              <a:t>Create a folder on our computer</a:t>
            </a:r>
          </a:p>
          <a:p>
            <a:pPr lvl="1"/>
            <a:r>
              <a:rPr lang="en-US" dirty="0"/>
              <a:t>Open the folder in the </a:t>
            </a:r>
            <a:r>
              <a:rPr lang="en-US" dirty="0" err="1"/>
              <a:t>Jupyter</a:t>
            </a:r>
            <a:r>
              <a:rPr lang="en-US" dirty="0"/>
              <a:t> extension in Visual Studio Code</a:t>
            </a:r>
          </a:p>
          <a:p>
            <a:pPr lvl="1"/>
            <a:r>
              <a:rPr lang="en-US" dirty="0"/>
              <a:t>Create a notebook</a:t>
            </a:r>
          </a:p>
          <a:p>
            <a:pPr lvl="1"/>
            <a:r>
              <a:rPr lang="en-US" dirty="0"/>
              <a:t>Put our regular expressions from week 1 into a scraper</a:t>
            </a:r>
          </a:p>
          <a:p>
            <a:r>
              <a:rPr lang="en-US" dirty="0"/>
              <a:t>Automating large data collection</a:t>
            </a:r>
          </a:p>
          <a:p>
            <a:pPr lvl="1"/>
            <a:r>
              <a:rPr lang="en-US" dirty="0"/>
              <a:t>When you have a small technique that works, </a:t>
            </a:r>
            <a:r>
              <a:rPr lang="en-US" dirty="0" err="1"/>
              <a:t>Jupyter</a:t>
            </a:r>
            <a:r>
              <a:rPr lang="en-US" dirty="0"/>
              <a:t> allows you to test it and reuse it</a:t>
            </a:r>
          </a:p>
          <a:p>
            <a:pPr lvl="1"/>
            <a:r>
              <a:rPr lang="en-US" dirty="0"/>
              <a:t>If we can gather data for one page, we can gather data for multiple pages with a loop</a:t>
            </a:r>
          </a:p>
          <a:p>
            <a:pPr lvl="1"/>
            <a:r>
              <a:rPr lang="en-US" dirty="0"/>
              <a:t>Eventually we’ll save this data in a shared location like a database (next week!)</a:t>
            </a:r>
          </a:p>
        </p:txBody>
      </p:sp>
    </p:spTree>
    <p:extLst>
      <p:ext uri="{BB962C8B-B14F-4D97-AF65-F5344CB8AC3E}">
        <p14:creationId xmlns:p14="http://schemas.microsoft.com/office/powerpoint/2010/main" val="2113338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B1E78-8809-411D-B6A2-BD2C5F636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</a:t>
            </a:r>
            <a:r>
              <a:rPr lang="en-US" dirty="0" err="1"/>
              <a:t>Jupyter</a:t>
            </a:r>
            <a:r>
              <a:rPr lang="en-US" dirty="0"/>
              <a:t> extension in VS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E9A4A-0CA2-49E4-9273-41832BCFD48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Visual Studio Code, click on the three-boxes icon on the left-hand side</a:t>
            </a:r>
          </a:p>
          <a:p>
            <a:r>
              <a:rPr lang="en-US" dirty="0"/>
              <a:t>In the “Extension Marketplace” box, type “</a:t>
            </a:r>
            <a:r>
              <a:rPr lang="en-US" dirty="0" err="1"/>
              <a:t>Jupyter</a:t>
            </a:r>
            <a:r>
              <a:rPr lang="en-US" dirty="0"/>
              <a:t>” and click search</a:t>
            </a:r>
          </a:p>
          <a:p>
            <a:r>
              <a:rPr lang="en-US" dirty="0"/>
              <a:t>Find the official Microsoft </a:t>
            </a:r>
            <a:r>
              <a:rPr lang="en-US" dirty="0" err="1"/>
              <a:t>Jupyter</a:t>
            </a:r>
            <a:r>
              <a:rPr lang="en-US" dirty="0"/>
              <a:t> extension and click “Install”</a:t>
            </a:r>
          </a:p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B2DE961-217B-49E7-8410-D2DB3C88C2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64075" y="1829806"/>
            <a:ext cx="3702050" cy="21268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03702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CDC08-9E03-45E3-B9BA-4E6E052AB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7E71C-D960-451E-AB0B-5986F5219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2309598" cy="3017520"/>
          </a:xfrm>
        </p:spPr>
        <p:txBody>
          <a:bodyPr>
            <a:normAutofit/>
          </a:bodyPr>
          <a:lstStyle/>
          <a:p>
            <a:r>
              <a:rPr lang="en-US" dirty="0"/>
              <a:t>Open the </a:t>
            </a:r>
            <a:r>
              <a:rPr lang="en-US" b="1" dirty="0"/>
              <a:t>Command Palette</a:t>
            </a:r>
          </a:p>
          <a:p>
            <a:pPr lvl="1"/>
            <a:r>
              <a:rPr lang="en-US" dirty="0"/>
              <a:t>On Windows </a:t>
            </a:r>
            <a:r>
              <a:rPr lang="en-US" dirty="0" err="1"/>
              <a:t>Ctrl+Shift+P</a:t>
            </a:r>
            <a:endParaRPr lang="en-US" dirty="0"/>
          </a:p>
          <a:p>
            <a:pPr lvl="1"/>
            <a:r>
              <a:rPr lang="en-US" dirty="0"/>
              <a:t>On Mac </a:t>
            </a:r>
            <a:r>
              <a:rPr lang="en-US" dirty="0" err="1"/>
              <a:t>Cmd+Shift+P</a:t>
            </a:r>
            <a:endParaRPr lang="en-US" dirty="0"/>
          </a:p>
          <a:p>
            <a:r>
              <a:rPr lang="en-US" dirty="0"/>
              <a:t>The palette is keyboard based and can do everything </a:t>
            </a:r>
          </a:p>
          <a:p>
            <a:r>
              <a:rPr lang="en-US" dirty="0"/>
              <a:t>Type or find the palette action “Create New </a:t>
            </a:r>
            <a:r>
              <a:rPr lang="en-US" dirty="0" err="1"/>
              <a:t>Jupyter</a:t>
            </a:r>
            <a:r>
              <a:rPr lang="en-US" dirty="0"/>
              <a:t> Notebook”</a:t>
            </a:r>
          </a:p>
          <a:p>
            <a:r>
              <a:rPr lang="en-US" dirty="0"/>
              <a:t>Type into a </a:t>
            </a:r>
            <a:r>
              <a:rPr lang="en-US" dirty="0" err="1"/>
              <a:t>Jupyter</a:t>
            </a:r>
            <a:r>
              <a:rPr lang="en-US" dirty="0"/>
              <a:t> code box this command:</a:t>
            </a:r>
          </a:p>
          <a:p>
            <a:pPr lvl="1"/>
            <a:r>
              <a:rPr lang="en-US" sz="1250" dirty="0">
                <a:highlight>
                  <a:srgbClr val="C0C0C0"/>
                </a:highlight>
                <a:latin typeface="Consolas" panose="020B0609020204030204" pitchFamily="49" charset="0"/>
              </a:rPr>
              <a:t>print(“Hello, world!”)</a:t>
            </a:r>
          </a:p>
          <a:p>
            <a:endParaRPr lang="en-US" dirty="0">
              <a:latin typeface="Consolas" panose="020B0609020204030204" pitchFamily="49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AA7E15-2C6F-44BE-BDE0-E091435E79F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35989" b="61855"/>
          <a:stretch/>
        </p:blipFill>
        <p:spPr>
          <a:xfrm>
            <a:off x="3426343" y="1530310"/>
            <a:ext cx="5170203" cy="14076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171ECF-E336-B8C7-D484-DAC9D5B55D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906" y="3244484"/>
            <a:ext cx="5249075" cy="11919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25C1A06B-DA83-53D8-98DF-6C1F7CE7F804}"/>
              </a:ext>
            </a:extLst>
          </p:cNvPr>
          <p:cNvSpPr/>
          <p:nvPr/>
        </p:nvSpPr>
        <p:spPr>
          <a:xfrm>
            <a:off x="6719365" y="2571750"/>
            <a:ext cx="601734" cy="102095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330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46A2-1F08-2202-22C7-965F56E99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on “Notebook Line Numbers”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58B21-0396-8DD8-B1FF-FF064EB67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feature allows the professor to look at your screen when you’re sharing code and tell you where a problem is</a:t>
            </a:r>
          </a:p>
          <a:p>
            <a:r>
              <a:rPr lang="en-US" dirty="0"/>
              <a:t>Without notebook line numbers, I struggle to help people during office hours!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9D64A6-357D-5614-8A29-09C5AC055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4736" y="2510228"/>
            <a:ext cx="5812024" cy="189159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6D34538-5C08-26EA-DBBE-6F29544CF452}"/>
              </a:ext>
            </a:extLst>
          </p:cNvPr>
          <p:cNvSpPr/>
          <p:nvPr/>
        </p:nvSpPr>
        <p:spPr>
          <a:xfrm>
            <a:off x="7107382" y="1731819"/>
            <a:ext cx="1787236" cy="9628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Click on … menu, then select Notebook Line Numbers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9829C5-B54E-2C29-7168-C3E95C88078F}"/>
              </a:ext>
            </a:extLst>
          </p:cNvPr>
          <p:cNvCxnSpPr/>
          <p:nvPr/>
        </p:nvCxnSpPr>
        <p:spPr>
          <a:xfrm flipH="1">
            <a:off x="6608618" y="2571750"/>
            <a:ext cx="554182" cy="12295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1F2397-2ECD-AAC3-23E5-BF76088B8CF9}"/>
              </a:ext>
            </a:extLst>
          </p:cNvPr>
          <p:cNvCxnSpPr/>
          <p:nvPr/>
        </p:nvCxnSpPr>
        <p:spPr>
          <a:xfrm flipH="1">
            <a:off x="7509164" y="2571750"/>
            <a:ext cx="263236" cy="72563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0EEEA64-A809-F7D2-9B0C-1C702D292363}"/>
              </a:ext>
            </a:extLst>
          </p:cNvPr>
          <p:cNvSpPr/>
          <p:nvPr/>
        </p:nvSpPr>
        <p:spPr>
          <a:xfrm>
            <a:off x="540327" y="3438930"/>
            <a:ext cx="1787236" cy="9628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If it works, you’ll see line numbers to the left of each bit of text!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57BE43-4DD6-CC38-5153-985412863B35}"/>
              </a:ext>
            </a:extLst>
          </p:cNvPr>
          <p:cNvCxnSpPr>
            <a:cxnSpLocks/>
          </p:cNvCxnSpPr>
          <p:nvPr/>
        </p:nvCxnSpPr>
        <p:spPr>
          <a:xfrm flipV="1">
            <a:off x="2105891" y="3920375"/>
            <a:ext cx="962891" cy="15541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956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962B8-4A1F-48AF-8B04-B1482EA1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did we just do?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F679100-A1A2-4507-A417-3829768789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created a notebook for you</a:t>
            </a:r>
          </a:p>
          <a:p>
            <a:pPr lvl="1"/>
            <a:r>
              <a:rPr lang="en-US" dirty="0"/>
              <a:t>It’s basically a scratchpad where we can do some work</a:t>
            </a:r>
          </a:p>
          <a:p>
            <a:pPr lvl="1"/>
            <a:r>
              <a:rPr lang="en-US" dirty="0"/>
              <a:t>We haven’t done anything yet</a:t>
            </a:r>
          </a:p>
          <a:p>
            <a:pPr lvl="1"/>
            <a:r>
              <a:rPr lang="en-US" dirty="0"/>
              <a:t>But, the notebook is essentially a JSON file</a:t>
            </a:r>
          </a:p>
          <a:p>
            <a:pPr lvl="1"/>
            <a:r>
              <a:rPr lang="en-US" dirty="0"/>
              <a:t>It has code and data in it</a:t>
            </a:r>
          </a:p>
          <a:p>
            <a:r>
              <a:rPr lang="en-US" dirty="0"/>
              <a:t>You can share this small text file with others</a:t>
            </a:r>
          </a:p>
          <a:p>
            <a:r>
              <a:rPr lang="en-US" dirty="0"/>
              <a:t>They can build on your work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6ED5C27-6B49-45DB-B2B9-2E8EF87C27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64075" y="1779176"/>
            <a:ext cx="3702050" cy="222808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9749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446A2-1F08-2202-22C7-965F56E99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Good and bad notebooks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58B21-0396-8DD8-B1FF-FF064EB67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1384301"/>
            <a:ext cx="3560576" cy="3017520"/>
          </a:xfrm>
        </p:spPr>
        <p:txBody>
          <a:bodyPr>
            <a:normAutofit/>
          </a:bodyPr>
          <a:lstStyle/>
          <a:p>
            <a:r>
              <a:rPr lang="en-US" dirty="0"/>
              <a:t>A good notebook uses small blocks of code; a bad one uses a single block of code</a:t>
            </a:r>
          </a:p>
          <a:p>
            <a:r>
              <a:rPr lang="en-US" dirty="0"/>
              <a:t>If you write a big notebook with a single block of code, </a:t>
            </a:r>
            <a:r>
              <a:rPr lang="en-US" b="1" i="1" dirty="0"/>
              <a:t>you should not be using </a:t>
            </a:r>
            <a:r>
              <a:rPr lang="en-US" b="1" i="1" dirty="0" err="1"/>
              <a:t>Jupyter</a:t>
            </a:r>
            <a:endParaRPr lang="en-US" b="1" i="1" dirty="0"/>
          </a:p>
          <a:p>
            <a:r>
              <a:rPr lang="en-US" dirty="0"/>
              <a:t>Each block of code must do the following:</a:t>
            </a:r>
          </a:p>
          <a:p>
            <a:pPr lvl="1"/>
            <a:r>
              <a:rPr lang="en-US" dirty="0"/>
              <a:t>Have a clear purpose</a:t>
            </a:r>
          </a:p>
          <a:p>
            <a:pPr lvl="1"/>
            <a:r>
              <a:rPr lang="en-US" dirty="0"/>
              <a:t>Do a small piece of work</a:t>
            </a:r>
          </a:p>
          <a:p>
            <a:pPr lvl="1"/>
            <a:r>
              <a:rPr lang="en-US" dirty="0"/>
              <a:t>Print out some results so you can test it</a:t>
            </a:r>
          </a:p>
          <a:p>
            <a:r>
              <a:rPr lang="en-US" dirty="0"/>
              <a:t>If you submit a notebook that is a single block of code, I will deduct points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145FA5-B5B2-9BA4-D4E2-F226B2925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318" y="1465580"/>
            <a:ext cx="3332442" cy="30175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01737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D5A95F5-4FFD-45F1-B1EA-765DDA1E0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“Notebook”?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0DEF9A9-4987-4FCB-9F23-83FA81F380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Understanding the </a:t>
            </a:r>
            <a:r>
              <a:rPr lang="en-US" dirty="0" err="1"/>
              <a:t>jupyter</a:t>
            </a:r>
            <a:r>
              <a:rPr lang="en-US" dirty="0"/>
              <a:t> model of research</a:t>
            </a:r>
          </a:p>
        </p:txBody>
      </p:sp>
    </p:spTree>
    <p:extLst>
      <p:ext uri="{BB962C8B-B14F-4D97-AF65-F5344CB8AC3E}">
        <p14:creationId xmlns:p14="http://schemas.microsoft.com/office/powerpoint/2010/main" val="40364037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7FD38A-C960-4EC8-A029-9EABE6031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powerful than R, easier than C++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FE40E9-7C0A-4D3E-AAEF-3650EAB966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 usage is gradually declining among the computer science field</a:t>
            </a:r>
          </a:p>
          <a:p>
            <a:r>
              <a:rPr lang="en-US" dirty="0"/>
              <a:t>Python is a comprehensive programming language, and it has a healthy ecosystem</a:t>
            </a:r>
          </a:p>
          <a:p>
            <a:r>
              <a:rPr lang="en-US" dirty="0"/>
              <a:t>Researchers can use the Python ecosystem to write powerful research</a:t>
            </a:r>
          </a:p>
          <a:p>
            <a:pPr lvl="1"/>
            <a:r>
              <a:rPr lang="en-US" dirty="0"/>
              <a:t>Use Python libraries written in C++ for GPU parallel processing streams for machine learning</a:t>
            </a:r>
          </a:p>
          <a:p>
            <a:pPr lvl="1"/>
            <a:r>
              <a:rPr lang="en-US" dirty="0"/>
              <a:t>Find answers for their problems on </a:t>
            </a:r>
            <a:r>
              <a:rPr lang="en-US" dirty="0" err="1"/>
              <a:t>StackOverflow</a:t>
            </a:r>
            <a:endParaRPr lang="en-US" dirty="0"/>
          </a:p>
          <a:p>
            <a:pPr lvl="1"/>
            <a:r>
              <a:rPr lang="en-US" dirty="0"/>
              <a:t>Publish packages on </a:t>
            </a:r>
            <a:r>
              <a:rPr lang="en-US" dirty="0" err="1"/>
              <a:t>PyPi</a:t>
            </a:r>
            <a:r>
              <a:rPr lang="en-US" dirty="0"/>
              <a:t>, an open repository managed by the Python foundation </a:t>
            </a:r>
          </a:p>
          <a:p>
            <a:r>
              <a:rPr lang="en-US" dirty="0"/>
              <a:t>Python gets us the power of the best available software engineers with very little effort</a:t>
            </a:r>
          </a:p>
          <a:p>
            <a:r>
              <a:rPr lang="en-US" dirty="0" err="1"/>
              <a:t>Jupyter</a:t>
            </a:r>
            <a:r>
              <a:rPr lang="en-US" dirty="0"/>
              <a:t> is a REPL program - a </a:t>
            </a:r>
            <a:r>
              <a:rPr lang="en-US" b="1" dirty="0"/>
              <a:t>Read-Evaluate-Print Loop </a:t>
            </a:r>
            <a:r>
              <a:rPr lang="en-US" dirty="0"/>
              <a:t>– which makes it easy to experiment</a:t>
            </a:r>
          </a:p>
        </p:txBody>
      </p:sp>
    </p:spTree>
    <p:extLst>
      <p:ext uri="{BB962C8B-B14F-4D97-AF65-F5344CB8AC3E}">
        <p14:creationId xmlns:p14="http://schemas.microsoft.com/office/powerpoint/2010/main" val="8124661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3BEEBE-0CE8-407D-B8DA-F3B0CF6F5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mixture of writing and research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68ACD7-22EC-4636-B8B9-36ECF06280F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Notebooks have both text and code segments</a:t>
            </a:r>
          </a:p>
          <a:p>
            <a:r>
              <a:rPr lang="en-US" dirty="0"/>
              <a:t>The code can be executed at any time</a:t>
            </a:r>
          </a:p>
          <a:p>
            <a:r>
              <a:rPr lang="en-US" dirty="0"/>
              <a:t>You can mix your research with instructions on how to recreate your research!</a:t>
            </a:r>
          </a:p>
          <a:p>
            <a:r>
              <a:rPr lang="en-US" dirty="0"/>
              <a:t>Markdown allows you to write nicer papers</a:t>
            </a:r>
          </a:p>
          <a:p>
            <a:pPr lvl="1"/>
            <a:r>
              <a:rPr lang="en-US" dirty="0"/>
              <a:t>Some analysts publish via notebooks!</a:t>
            </a:r>
          </a:p>
          <a:p>
            <a:pPr lvl="1"/>
            <a:r>
              <a:rPr lang="en-US" dirty="0"/>
              <a:t>It’s the same system as used in your GitHub repository readme file</a:t>
            </a:r>
          </a:p>
          <a:p>
            <a:r>
              <a:rPr lang="en-US" dirty="0">
                <a:hlinkClick r:id="rId2"/>
              </a:rPr>
              <a:t>https://www.markdownguide.org/cheat-sheet/</a:t>
            </a:r>
            <a:r>
              <a:rPr lang="en-US" dirty="0"/>
              <a:t> 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E8D9FD47-B6E6-40EE-BFC1-6A0A7056707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rcRect/>
          <a:stretch/>
        </p:blipFill>
        <p:spPr>
          <a:xfrm>
            <a:off x="4709106" y="1766038"/>
            <a:ext cx="3611987" cy="22543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54954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3BEEBE-0CE8-407D-B8DA-F3B0CF6F5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4953"/>
            <a:ext cx="7543800" cy="1088068"/>
          </a:xfrm>
        </p:spPr>
        <p:txBody>
          <a:bodyPr/>
          <a:lstStyle/>
          <a:p>
            <a:r>
              <a:rPr lang="en-US" dirty="0"/>
              <a:t>Working with code in your notebook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568ACD7-22EC-4636-B8B9-36ECF0628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703320" cy="3017520"/>
          </a:xfrm>
        </p:spPr>
        <p:txBody>
          <a:bodyPr>
            <a:normAutofit/>
          </a:bodyPr>
          <a:lstStyle/>
          <a:p>
            <a:r>
              <a:rPr lang="en-US" dirty="0"/>
              <a:t>Actions are in the navigation bar at the top</a:t>
            </a:r>
          </a:p>
          <a:p>
            <a:pPr lvl="1"/>
            <a:r>
              <a:rPr lang="en-US" dirty="0"/>
              <a:t>+Code – Add a new code segment</a:t>
            </a:r>
          </a:p>
          <a:p>
            <a:pPr lvl="1"/>
            <a:r>
              <a:rPr lang="en-US" dirty="0"/>
              <a:t>+Markdown – Add a new markdown segment</a:t>
            </a:r>
          </a:p>
          <a:p>
            <a:pPr lvl="1"/>
            <a:r>
              <a:rPr lang="en-US" dirty="0"/>
              <a:t>Run All – Run all code segments</a:t>
            </a:r>
          </a:p>
          <a:p>
            <a:pPr lvl="1"/>
            <a:r>
              <a:rPr lang="en-US" dirty="0"/>
              <a:t>Clear Outputs</a:t>
            </a:r>
          </a:p>
          <a:p>
            <a:pPr lvl="1"/>
            <a:r>
              <a:rPr lang="en-US" dirty="0"/>
              <a:t>Select Kernel – Choose which version of Python you use</a:t>
            </a:r>
          </a:p>
          <a:p>
            <a:r>
              <a:rPr lang="en-US" dirty="0"/>
              <a:t>If something doesn’t work right, edit it and click run again!</a:t>
            </a:r>
          </a:p>
          <a:p>
            <a:r>
              <a:rPr lang="en-US" b="1" i="1" dirty="0"/>
              <a:t>Read the error messages</a:t>
            </a:r>
            <a:r>
              <a:rPr lang="en-US" dirty="0"/>
              <a:t>; they tell you what went wrong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AF83A69E-2463-4E0E-84AC-558A3888961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4664075" y="1737933"/>
            <a:ext cx="3702050" cy="23105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3B0B37D-903D-48B7-9596-B7CE05B097E8}"/>
              </a:ext>
            </a:extLst>
          </p:cNvPr>
          <p:cNvSpPr/>
          <p:nvPr/>
        </p:nvSpPr>
        <p:spPr>
          <a:xfrm>
            <a:off x="4664075" y="2065451"/>
            <a:ext cx="3702050" cy="28161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45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C60B1-588D-274E-1032-4A195711E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Understanding error messages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3F8E8F-BD64-A697-E9BB-52707855707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122327" y="1384301"/>
            <a:ext cx="6244433" cy="2161211"/>
          </a:xfrm>
        </p:spPr>
      </p:pic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9AA01F22-A825-D01C-F30F-9B4D4193DE48}"/>
              </a:ext>
            </a:extLst>
          </p:cNvPr>
          <p:cNvSpPr/>
          <p:nvPr/>
        </p:nvSpPr>
        <p:spPr>
          <a:xfrm>
            <a:off x="501445" y="1734410"/>
            <a:ext cx="1811102" cy="973393"/>
          </a:xfrm>
          <a:prstGeom prst="wedgeRectCallout">
            <a:avLst>
              <a:gd name="adj1" fmla="val 84379"/>
              <a:gd name="adj2" fmla="val 431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This tells me the error is on line 1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F454B50E-14A5-3128-45EE-361E00417C32}"/>
              </a:ext>
            </a:extLst>
          </p:cNvPr>
          <p:cNvSpPr/>
          <p:nvPr/>
        </p:nvSpPr>
        <p:spPr>
          <a:xfrm>
            <a:off x="2588833" y="3373447"/>
            <a:ext cx="1811102" cy="973393"/>
          </a:xfrm>
          <a:prstGeom prst="wedgeRectCallout">
            <a:avLst>
              <a:gd name="adj1" fmla="val 19232"/>
              <a:gd name="adj2" fmla="val -9568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What’s “</a:t>
            </a:r>
            <a:r>
              <a:rPr lang="en-US" dirty="0" err="1"/>
              <a:t>rint</a:t>
            </a:r>
            <a:r>
              <a:rPr lang="en-US" dirty="0"/>
              <a:t>”?  I wanted “print!”</a:t>
            </a:r>
          </a:p>
        </p:txBody>
      </p:sp>
      <p:sp>
        <p:nvSpPr>
          <p:cNvPr id="9" name="Speech Bubble: Rectangle 8">
            <a:extLst>
              <a:ext uri="{FF2B5EF4-FFF2-40B4-BE49-F238E27FC236}">
                <a16:creationId xmlns:a16="http://schemas.microsoft.com/office/drawing/2014/main" id="{FF24D0D9-61D8-2FEA-44A0-EC423153B946}"/>
              </a:ext>
            </a:extLst>
          </p:cNvPr>
          <p:cNvSpPr/>
          <p:nvPr/>
        </p:nvSpPr>
        <p:spPr>
          <a:xfrm>
            <a:off x="6699700" y="897604"/>
            <a:ext cx="1811102" cy="973393"/>
          </a:xfrm>
          <a:prstGeom prst="wedgeRectCallout">
            <a:avLst>
              <a:gd name="adj1" fmla="val -182397"/>
              <a:gd name="adj2" fmla="val 5280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Oh, I see the typo!</a:t>
            </a:r>
          </a:p>
        </p:txBody>
      </p:sp>
    </p:spTree>
    <p:extLst>
      <p:ext uri="{BB962C8B-B14F-4D97-AF65-F5344CB8AC3E}">
        <p14:creationId xmlns:p14="http://schemas.microsoft.com/office/powerpoint/2010/main" val="14867654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9A6AE37-451C-460B-84EA-C9583A27C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 World </a:t>
            </a:r>
            <a:r>
              <a:rPr lang="en-US" dirty="0" err="1"/>
              <a:t>Jupyter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2B6EE1-8545-41EF-87CB-E21AA36BE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Gathering text from a website</a:t>
            </a:r>
          </a:p>
        </p:txBody>
      </p:sp>
    </p:spTree>
    <p:extLst>
      <p:ext uri="{BB962C8B-B14F-4D97-AF65-F5344CB8AC3E}">
        <p14:creationId xmlns:p14="http://schemas.microsoft.com/office/powerpoint/2010/main" val="1885374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D0FBD3-B4FF-23FF-DF1A-AABDA2502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I want my program to do?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B1F019-68C3-F303-364C-091FB49F93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Think: What did I do?</a:t>
            </a:r>
          </a:p>
          <a:p>
            <a:pPr lvl="1"/>
            <a:r>
              <a:rPr lang="en-US" dirty="0"/>
              <a:t>Right Click -&gt; View Source</a:t>
            </a:r>
          </a:p>
          <a:p>
            <a:pPr lvl="1"/>
            <a:r>
              <a:rPr lang="en-US" dirty="0"/>
              <a:t>Copy the text of the webpage</a:t>
            </a:r>
          </a:p>
          <a:p>
            <a:pPr lvl="1"/>
            <a:r>
              <a:rPr lang="en-US" dirty="0"/>
              <a:t>Paste into Regex 101</a:t>
            </a:r>
          </a:p>
          <a:p>
            <a:pPr lvl="1"/>
            <a:r>
              <a:rPr lang="en-US" dirty="0"/>
              <a:t>Use a regular expression to extract one field</a:t>
            </a:r>
          </a:p>
          <a:p>
            <a:pPr lvl="1"/>
            <a:r>
              <a:rPr lang="en-US" dirty="0"/>
              <a:t>Repeat for all four fields</a:t>
            </a:r>
          </a:p>
          <a:p>
            <a:pPr lvl="2"/>
            <a:r>
              <a:rPr lang="en-US" dirty="0"/>
              <a:t>Remember, thumbnail URLs are difficult because of the anti-scraping defenses Metacritic added, so we’ll skip that!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103A14-C101-6536-4C6C-ED57CE50B82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Our program will reproduce the same work we did manually, but using automation!</a:t>
            </a:r>
          </a:p>
          <a:p>
            <a:pPr lvl="1"/>
            <a:r>
              <a:rPr lang="en-US" dirty="0"/>
              <a:t>First, we’ll use Python to retrieve the webpage.</a:t>
            </a:r>
          </a:p>
          <a:p>
            <a:pPr lvl="1"/>
            <a:r>
              <a:rPr lang="en-US" dirty="0"/>
              <a:t>Second, we’ll use a regular expression to retrieve a single data field.</a:t>
            </a:r>
          </a:p>
          <a:p>
            <a:pPr lvl="1"/>
            <a:r>
              <a:rPr lang="en-US" dirty="0"/>
              <a:t>Third, we’ll retrieve all the other fields.</a:t>
            </a:r>
          </a:p>
          <a:p>
            <a:pPr lvl="1"/>
            <a:r>
              <a:rPr lang="en-US" dirty="0"/>
              <a:t>Finally, we’ll display the results.</a:t>
            </a:r>
          </a:p>
        </p:txBody>
      </p:sp>
    </p:spTree>
    <p:extLst>
      <p:ext uri="{BB962C8B-B14F-4D97-AF65-F5344CB8AC3E}">
        <p14:creationId xmlns:p14="http://schemas.microsoft.com/office/powerpoint/2010/main" val="1159832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2B4C5F-9BD6-4552-B484-C13765D29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Retrieve data from a website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07EC322-603E-4FC1-AE0A-7681B619F04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Despite thirty years of programming, I always start by searching for guides online</a:t>
            </a:r>
          </a:p>
          <a:p>
            <a:pPr lvl="1"/>
            <a:r>
              <a:rPr lang="en-US" dirty="0"/>
              <a:t>Google “Retrieve Webpage Python”</a:t>
            </a:r>
          </a:p>
          <a:p>
            <a:pPr lvl="1"/>
            <a:r>
              <a:rPr lang="en-US" dirty="0"/>
              <a:t>Results: </a:t>
            </a:r>
            <a:r>
              <a:rPr lang="en-US" dirty="0">
                <a:hlinkClick r:id="rId2"/>
              </a:rPr>
              <a:t>https://zetcode.com/python/urllib3/</a:t>
            </a:r>
            <a:endParaRPr lang="en-US" dirty="0"/>
          </a:p>
          <a:p>
            <a:r>
              <a:rPr lang="en-US" dirty="0"/>
              <a:t>Why don’t I know this offhand?</a:t>
            </a:r>
          </a:p>
          <a:p>
            <a:pPr lvl="1"/>
            <a:r>
              <a:rPr lang="en-US" dirty="0"/>
              <a:t>There are just too many things to know</a:t>
            </a:r>
          </a:p>
          <a:p>
            <a:pPr lvl="1"/>
            <a:r>
              <a:rPr lang="en-US" dirty="0"/>
              <a:t>I switch languages and toolkits regularly</a:t>
            </a:r>
          </a:p>
          <a:p>
            <a:pPr lvl="1"/>
            <a:r>
              <a:rPr lang="en-US" dirty="0"/>
              <a:t>It isn’t worth memorizing every possible fact</a:t>
            </a:r>
          </a:p>
          <a:p>
            <a:pPr lvl="1"/>
            <a:r>
              <a:rPr lang="en-US" dirty="0"/>
              <a:t>But when you discover something, blog about it, someone will care!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805A94F-51F1-4164-BB17-8BA06A61BF6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110687" y="1384300"/>
            <a:ext cx="2808826" cy="30178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594487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0C0F9-2ED4-AB1A-C3B7-10B35046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ChatGPT!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731C5-4780-C5FA-15CD-82CD9D7751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If you prefer, instead of using a search engine, you can use ChatGPT or other similar AI features to get some simple code</a:t>
            </a:r>
          </a:p>
          <a:p>
            <a:r>
              <a:rPr lang="en-US" dirty="0"/>
              <a:t>Getting a simple block of code is the most reliable thing AI can do</a:t>
            </a:r>
          </a:p>
          <a:p>
            <a:r>
              <a:rPr lang="en-US" dirty="0"/>
              <a:t>If you do it, your example may be different than mine!</a:t>
            </a:r>
          </a:p>
          <a:p>
            <a:r>
              <a:rPr lang="en-US" dirty="0"/>
              <a:t>Try this:</a:t>
            </a:r>
          </a:p>
          <a:p>
            <a:pPr lvl="1"/>
            <a:r>
              <a:rPr lang="en-US" dirty="0"/>
              <a:t>“Write python code for </a:t>
            </a:r>
            <a:r>
              <a:rPr lang="en-US" dirty="0" err="1"/>
              <a:t>Jupyter</a:t>
            </a:r>
            <a:r>
              <a:rPr lang="en-US" dirty="0"/>
              <a:t> to fetch a web page”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DCBE37-9DC5-9533-1001-B8DD864C40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87726" y="1384300"/>
            <a:ext cx="3654747" cy="30178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12563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051E5-7D80-4BBA-97B7-7D4650932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put this in our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582CD-99D1-4375-9C45-743094F556F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We want to view the page source</a:t>
            </a:r>
          </a:p>
          <a:p>
            <a:r>
              <a:rPr lang="en-US" dirty="0"/>
              <a:t>But the data comes from urllib3 as bytes</a:t>
            </a:r>
          </a:p>
          <a:p>
            <a:r>
              <a:rPr lang="en-US" dirty="0"/>
              <a:t>What are bytes?</a:t>
            </a:r>
          </a:p>
          <a:p>
            <a:pPr lvl="1"/>
            <a:r>
              <a:rPr lang="en-US" dirty="0"/>
              <a:t>Raw data from a computer</a:t>
            </a:r>
          </a:p>
          <a:p>
            <a:pPr lvl="1"/>
            <a:r>
              <a:rPr lang="en-US" dirty="0"/>
              <a:t>Needs to be converted to text</a:t>
            </a:r>
          </a:p>
          <a:p>
            <a:r>
              <a:rPr lang="en-US" b="1" i="1" u="sng" dirty="0"/>
              <a:t>What is this mention of ‘decode UTF-8’?</a:t>
            </a:r>
          </a:p>
          <a:p>
            <a:pPr lvl="1"/>
            <a:r>
              <a:rPr lang="en-US" dirty="0"/>
              <a:t>Remember the problems we had with encoding text for a regular expression? </a:t>
            </a:r>
          </a:p>
          <a:p>
            <a:pPr lvl="1"/>
            <a:r>
              <a:rPr lang="en-US" dirty="0"/>
              <a:t>All text has this problem, especially non-English languages</a:t>
            </a:r>
          </a:p>
          <a:p>
            <a:pPr lvl="1"/>
            <a:r>
              <a:rPr lang="en-US" dirty="0"/>
              <a:t>UTF8 is the best solution yet devised for text, but it is not completely universal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FF1B0F-5A7B-4D8E-8FEC-E80F293882C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64075" y="1458127"/>
            <a:ext cx="3702050" cy="28701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131093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B5921-D977-41B9-8F07-98BE7310E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detour: What is “UTF-8”?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8A07B-D8DB-48F6-8528-9E2E14B4E2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The world has more than one language</a:t>
            </a:r>
          </a:p>
          <a:p>
            <a:r>
              <a:rPr lang="en-US" dirty="0"/>
              <a:t>The original developers of ASCII spoke English, and they stored all text in 7 bits</a:t>
            </a:r>
          </a:p>
          <a:p>
            <a:r>
              <a:rPr lang="en-US" dirty="0"/>
              <a:t>Over time the 8-bit byte became the standard unit of data within a processor</a:t>
            </a:r>
          </a:p>
          <a:p>
            <a:r>
              <a:rPr lang="en-US" dirty="0"/>
              <a:t>When we wanted to encode other languages, there weren’t enough bits available</a:t>
            </a:r>
          </a:p>
          <a:p>
            <a:r>
              <a:rPr lang="en-US" dirty="0"/>
              <a:t>UTF-8 allows numbers to be encoded with one byte per character, and ideograms / emoji with multiple bytes</a:t>
            </a:r>
          </a:p>
          <a:p>
            <a:r>
              <a:rPr lang="en-US" dirty="0"/>
              <a:t>This isn’t technically fair to other languages, but it’s a solution that works and is reliable</a:t>
            </a:r>
          </a:p>
          <a:p>
            <a:r>
              <a:rPr lang="en-US" dirty="0"/>
              <a:t>Source: </a:t>
            </a:r>
            <a:r>
              <a:rPr lang="en-US" dirty="0">
                <a:hlinkClick r:id="rId2"/>
              </a:rPr>
              <a:t>Wikipedia</a:t>
            </a:r>
            <a:r>
              <a:rPr lang="en-US" dirty="0"/>
              <a:t> and </a:t>
            </a:r>
            <a:r>
              <a:rPr lang="en-US" dirty="0" err="1">
                <a:hlinkClick r:id="rId3"/>
              </a:rPr>
              <a:t>Hubspot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328EA4D-AD45-4BE1-80B1-F0A30094D84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4617723" y="1384301"/>
            <a:ext cx="3020919" cy="19904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FE982B-72E0-4772-97E7-0348FBDB6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623" y="3255117"/>
            <a:ext cx="3780691" cy="12732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Callout: Line 3">
            <a:extLst>
              <a:ext uri="{FF2B5EF4-FFF2-40B4-BE49-F238E27FC236}">
                <a16:creationId xmlns:a16="http://schemas.microsoft.com/office/drawing/2014/main" id="{BE1F7F69-50CF-480B-910F-2B00E6732E17}"/>
              </a:ext>
            </a:extLst>
          </p:cNvPr>
          <p:cNvSpPr/>
          <p:nvPr/>
        </p:nvSpPr>
        <p:spPr>
          <a:xfrm>
            <a:off x="5857276" y="1515474"/>
            <a:ext cx="1317247" cy="696990"/>
          </a:xfrm>
          <a:prstGeom prst="borderCallout1">
            <a:avLst>
              <a:gd name="adj1" fmla="val 99484"/>
              <a:gd name="adj2" fmla="val 62541"/>
              <a:gd name="adj3" fmla="val 285894"/>
              <a:gd name="adj4" fmla="val 8157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English characters</a:t>
            </a:r>
          </a:p>
        </p:txBody>
      </p:sp>
      <p:sp>
        <p:nvSpPr>
          <p:cNvPr id="7" name="Callout: Line 6">
            <a:extLst>
              <a:ext uri="{FF2B5EF4-FFF2-40B4-BE49-F238E27FC236}">
                <a16:creationId xmlns:a16="http://schemas.microsoft.com/office/drawing/2014/main" id="{AEE4FB4D-DA5C-462C-89A9-AE1CD2AA5362}"/>
              </a:ext>
            </a:extLst>
          </p:cNvPr>
          <p:cNvSpPr/>
          <p:nvPr/>
        </p:nvSpPr>
        <p:spPr>
          <a:xfrm>
            <a:off x="6811968" y="709779"/>
            <a:ext cx="1317247" cy="696990"/>
          </a:xfrm>
          <a:prstGeom prst="borderCallout1">
            <a:avLst>
              <a:gd name="adj1" fmla="val 99484"/>
              <a:gd name="adj2" fmla="val 62541"/>
              <a:gd name="adj3" fmla="val 400573"/>
              <a:gd name="adj4" fmla="val 5487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Other languages</a:t>
            </a:r>
          </a:p>
        </p:txBody>
      </p:sp>
      <p:sp>
        <p:nvSpPr>
          <p:cNvPr id="10" name="Callout: Line 9">
            <a:extLst>
              <a:ext uri="{FF2B5EF4-FFF2-40B4-BE49-F238E27FC236}">
                <a16:creationId xmlns:a16="http://schemas.microsoft.com/office/drawing/2014/main" id="{ECD2709E-10AC-49A3-B380-935411A4147D}"/>
              </a:ext>
            </a:extLst>
          </p:cNvPr>
          <p:cNvSpPr/>
          <p:nvPr/>
        </p:nvSpPr>
        <p:spPr>
          <a:xfrm>
            <a:off x="7755452" y="1582079"/>
            <a:ext cx="1317247" cy="696990"/>
          </a:xfrm>
          <a:prstGeom prst="borderCallout1">
            <a:avLst>
              <a:gd name="adj1" fmla="val 99484"/>
              <a:gd name="adj2" fmla="val 62541"/>
              <a:gd name="adj3" fmla="val 354701"/>
              <a:gd name="adj4" fmla="val 2186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Emoji</a:t>
            </a:r>
          </a:p>
        </p:txBody>
      </p:sp>
    </p:spTree>
    <p:extLst>
      <p:ext uri="{BB962C8B-B14F-4D97-AF65-F5344CB8AC3E}">
        <p14:creationId xmlns:p14="http://schemas.microsoft.com/office/powerpoint/2010/main" val="2127715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91752-6C96-494A-B4B1-1E18701BE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get back to our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C2F88-F788-411B-92EA-4FD2A24363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241696" cy="30175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Any line with a # is a comment</a:t>
            </a:r>
          </a:p>
          <a:p>
            <a:r>
              <a:rPr lang="en-US" dirty="0"/>
              <a:t>I use comments to help myself remember what I’m doing</a:t>
            </a:r>
          </a:p>
          <a:p>
            <a:pPr lvl="1"/>
            <a:r>
              <a:rPr lang="en-US" dirty="0"/>
              <a:t>I often write code and then forget the details</a:t>
            </a:r>
          </a:p>
          <a:p>
            <a:pPr lvl="1"/>
            <a:r>
              <a:rPr lang="en-US" dirty="0"/>
              <a:t>When I go back to it six months later, the comments help me remember why I’m doing it</a:t>
            </a:r>
          </a:p>
          <a:p>
            <a:pPr lvl="1"/>
            <a:r>
              <a:rPr lang="en-US" dirty="0"/>
              <a:t>Code without comments is horrible</a:t>
            </a:r>
          </a:p>
          <a:p>
            <a:r>
              <a:rPr lang="en-US" dirty="0"/>
              <a:t>At the end of the work, I print the results</a:t>
            </a:r>
          </a:p>
          <a:p>
            <a:r>
              <a:rPr lang="en-US" dirty="0"/>
              <a:t>Reminder: It’s okay if your code looks different from mine!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98A0755-739B-4DF5-9E79-B74E7E05BB3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4236983" y="1384301"/>
            <a:ext cx="4679090" cy="309920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018424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B6836F-A2AD-4151-A90D-668361B37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a Python library in </a:t>
            </a:r>
            <a:r>
              <a:rPr lang="en-US" dirty="0" err="1"/>
              <a:t>Jupyter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3B16B-D722-417A-B25C-D356478D7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If you see a yellow squiggly, that means that you don’t have that library in your computer</a:t>
            </a:r>
          </a:p>
          <a:p>
            <a:r>
              <a:rPr lang="en-US" dirty="0"/>
              <a:t>You need to install it with </a:t>
            </a:r>
            <a:r>
              <a:rPr lang="en-US" b="1" dirty="0"/>
              <a:t>a new code block using %pip install &lt;library&gt;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3998967-BC10-CECA-8DD6-8F0B2C488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83" y="2203874"/>
            <a:ext cx="8116433" cy="2276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7728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4B527-A560-4099-A8D9-878B8C7F1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executing our workbook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A7DC6-A953-40DF-9245-1DD8D545C5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 press the “Run All” button and Python executes my code</a:t>
            </a:r>
          </a:p>
          <a:p>
            <a:r>
              <a:rPr lang="en-US" dirty="0"/>
              <a:t>The results that I printed out show up at the end</a:t>
            </a:r>
          </a:p>
          <a:p>
            <a:r>
              <a:rPr lang="en-US" b="1" u="sng" dirty="0"/>
              <a:t>Wait: What the heck are “200” and “75845”?</a:t>
            </a:r>
          </a:p>
          <a:p>
            <a:r>
              <a:rPr lang="en-US" dirty="0"/>
              <a:t>These numbers on their own are confusing</a:t>
            </a:r>
          </a:p>
          <a:p>
            <a:pPr lvl="1"/>
            <a:r>
              <a:rPr lang="en-US" dirty="0"/>
              <a:t>200 = HTTP OK, a successful web request</a:t>
            </a:r>
          </a:p>
          <a:p>
            <a:pPr lvl="1"/>
            <a:r>
              <a:rPr lang="en-US" dirty="0"/>
              <a:t>75845 = The number of characters in the page</a:t>
            </a:r>
          </a:p>
          <a:p>
            <a:r>
              <a:rPr lang="en-US" dirty="0"/>
              <a:t>Let’s make our results more interesting than just two numbers!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AC1ACDE-1D26-4F5F-A098-0CAD769163F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4664075" y="1646167"/>
            <a:ext cx="3702050" cy="24941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6F96E0-D23E-4C96-AF25-FF8031FF4FAD}"/>
              </a:ext>
            </a:extLst>
          </p:cNvPr>
          <p:cNvSpPr/>
          <p:nvPr/>
        </p:nvSpPr>
        <p:spPr>
          <a:xfrm>
            <a:off x="5557915" y="1607802"/>
            <a:ext cx="472010" cy="186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38769E-D0F2-4D5E-A078-CAFC24A1C2CE}"/>
              </a:ext>
            </a:extLst>
          </p:cNvPr>
          <p:cNvSpPr/>
          <p:nvPr/>
        </p:nvSpPr>
        <p:spPr>
          <a:xfrm>
            <a:off x="4845329" y="3770477"/>
            <a:ext cx="405653" cy="369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472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90BB8-38AF-4ED7-AFD2-B559235B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our output readable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DC17B-CC7F-40D2-8B12-B3AB8366E6D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can give our output context by printing text with filled-in variables</a:t>
            </a:r>
          </a:p>
          <a:p>
            <a:pPr lvl="1"/>
            <a:r>
              <a:rPr lang="en-US" dirty="0"/>
              <a:t>Kind of like a “mad lib”</a:t>
            </a:r>
          </a:p>
          <a:p>
            <a:r>
              <a:rPr lang="en-US" dirty="0"/>
              <a:t>Instead of printing text with </a:t>
            </a:r>
            <a:r>
              <a:rPr lang="en-US" dirty="0">
                <a:highlight>
                  <a:srgbClr val="C0C0C0"/>
                </a:highlight>
              </a:rPr>
              <a:t>print(“text”)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highlight>
                  <a:srgbClr val="C0C0C0"/>
                </a:highlight>
              </a:rPr>
              <a:t>print(</a:t>
            </a:r>
            <a:r>
              <a:rPr lang="en-US" dirty="0" err="1">
                <a:highlight>
                  <a:srgbClr val="C0C0C0"/>
                </a:highlight>
              </a:rPr>
              <a:t>f”text</a:t>
            </a:r>
            <a:r>
              <a:rPr lang="en-US" dirty="0">
                <a:highlight>
                  <a:srgbClr val="C0C0C0"/>
                </a:highlight>
              </a:rPr>
              <a:t>”)</a:t>
            </a:r>
          </a:p>
          <a:p>
            <a:pPr lvl="1"/>
            <a:r>
              <a:rPr lang="en-US" dirty="0"/>
              <a:t>In your text, you can place variables surrounded by curly braces { }</a:t>
            </a:r>
          </a:p>
          <a:p>
            <a:pPr lvl="1"/>
            <a:r>
              <a:rPr lang="en-US" dirty="0"/>
              <a:t>Looks like this: </a:t>
            </a:r>
            <a:r>
              <a:rPr lang="en-US" dirty="0">
                <a:highlight>
                  <a:srgbClr val="C0C0C0"/>
                </a:highlight>
              </a:rPr>
              <a:t>print(</a:t>
            </a:r>
            <a:r>
              <a:rPr lang="en-US" dirty="0" err="1">
                <a:highlight>
                  <a:srgbClr val="C0C0C0"/>
                </a:highlight>
              </a:rPr>
              <a:t>f”My</a:t>
            </a:r>
            <a:r>
              <a:rPr lang="en-US" dirty="0">
                <a:highlight>
                  <a:srgbClr val="C0C0C0"/>
                </a:highlight>
              </a:rPr>
              <a:t> name is {name}”)</a:t>
            </a:r>
          </a:p>
          <a:p>
            <a:r>
              <a:rPr lang="en-US" dirty="0"/>
              <a:t>Source: </a:t>
            </a:r>
            <a:r>
              <a:rPr lang="en-US" dirty="0">
                <a:hlinkClick r:id="rId2"/>
              </a:rPr>
              <a:t>https://www.programiz.com/python-programming/string-interpolation</a:t>
            </a:r>
            <a:r>
              <a:rPr lang="en-US" dirty="0"/>
              <a:t>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F141EEC-6CD6-458A-A1CF-F4869AE468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64075" y="1529559"/>
            <a:ext cx="3702050" cy="27273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194635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5EBF1-BF78-CA58-EEF0-7B9A470BA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does “Encoding” keep showing up?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CF2C65-C7D1-A6B9-B55C-6E9FF1AAF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you are writing text, it’s just text</a:t>
            </a:r>
          </a:p>
          <a:p>
            <a:r>
              <a:rPr lang="en-US" dirty="0"/>
              <a:t>But when you’re working with software or data, you need to know how the data is </a:t>
            </a:r>
            <a:r>
              <a:rPr lang="en-US" b="1" dirty="0"/>
              <a:t>formatted</a:t>
            </a:r>
            <a:r>
              <a:rPr lang="en-US" dirty="0"/>
              <a:t>.</a:t>
            </a:r>
          </a:p>
          <a:p>
            <a:r>
              <a:rPr lang="en-US" dirty="0"/>
              <a:t>Encoding is how we ensure that data is clearly identified and separated.</a:t>
            </a:r>
          </a:p>
          <a:p>
            <a:pPr lvl="1"/>
            <a:r>
              <a:rPr lang="en-US" dirty="0"/>
              <a:t>For regular expressions </a:t>
            </a:r>
            <a:r>
              <a:rPr lang="en-US" b="1" dirty="0"/>
              <a:t>backslashes, periods, and brackets </a:t>
            </a:r>
            <a:r>
              <a:rPr lang="en-US" dirty="0"/>
              <a:t>are among the special encoding characters</a:t>
            </a:r>
          </a:p>
          <a:p>
            <a:pPr lvl="1"/>
            <a:r>
              <a:rPr lang="en-US" dirty="0"/>
              <a:t>For markdown, </a:t>
            </a:r>
            <a:r>
              <a:rPr lang="en-US" b="1" dirty="0"/>
              <a:t>hash tags (#) and asterisks </a:t>
            </a:r>
            <a:r>
              <a:rPr lang="en-US" dirty="0"/>
              <a:t>are used for encoding comments and bullet lists</a:t>
            </a:r>
          </a:p>
          <a:p>
            <a:pPr lvl="1"/>
            <a:r>
              <a:rPr lang="en-US" dirty="0"/>
              <a:t>For UTF-8, </a:t>
            </a:r>
            <a:r>
              <a:rPr lang="en-US" b="1" dirty="0"/>
              <a:t>high bits and extra bytes</a:t>
            </a:r>
            <a:r>
              <a:rPr lang="en-US" dirty="0"/>
              <a:t> are used to distinguish emoji from other types of text</a:t>
            </a:r>
          </a:p>
          <a:p>
            <a:pPr lvl="1"/>
            <a:r>
              <a:rPr lang="en-US" dirty="0"/>
              <a:t>In CSV files, </a:t>
            </a:r>
            <a:r>
              <a:rPr lang="en-US" b="1" dirty="0"/>
              <a:t>commas, tabs, and double quotes </a:t>
            </a:r>
            <a:r>
              <a:rPr lang="en-US" dirty="0"/>
              <a:t>are used to separate one text field from another</a:t>
            </a:r>
          </a:p>
          <a:p>
            <a:pPr lvl="1"/>
            <a:r>
              <a:rPr lang="en-US" dirty="0"/>
              <a:t>In Python formatting strings, </a:t>
            </a:r>
            <a:r>
              <a:rPr lang="en-US" b="1" dirty="0"/>
              <a:t>curly braces {}</a:t>
            </a:r>
            <a:r>
              <a:rPr lang="en-US" dirty="0"/>
              <a:t> are used to separate fields from text</a:t>
            </a:r>
          </a:p>
          <a:p>
            <a:r>
              <a:rPr lang="en-US" dirty="0"/>
              <a:t>As an data scientist, you’ll need to understand what distinguishes formatting from text</a:t>
            </a:r>
          </a:p>
        </p:txBody>
      </p:sp>
    </p:spTree>
    <p:extLst>
      <p:ext uri="{BB962C8B-B14F-4D97-AF65-F5344CB8AC3E}">
        <p14:creationId xmlns:p14="http://schemas.microsoft.com/office/powerpoint/2010/main" val="23000755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0DC48-449E-4333-A327-4EDA2493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string interpolation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C362B-736A-46E6-B217-FCE29865D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2959" y="1384301"/>
            <a:ext cx="3088313" cy="3017520"/>
          </a:xfrm>
        </p:spPr>
        <p:txBody>
          <a:bodyPr/>
          <a:lstStyle/>
          <a:p>
            <a:r>
              <a:rPr lang="en-US" dirty="0"/>
              <a:t>Your text string now starts with “f”</a:t>
            </a:r>
          </a:p>
          <a:p>
            <a:r>
              <a:rPr lang="en-US" dirty="0"/>
              <a:t>Within an f-string, you can put variables anywhere in curly braces {}</a:t>
            </a:r>
          </a:p>
          <a:p>
            <a:r>
              <a:rPr lang="en-US" dirty="0"/>
              <a:t>Python will automatically fill in the blanks with the data for you</a:t>
            </a:r>
          </a:p>
          <a:p>
            <a:r>
              <a:rPr lang="en-US" dirty="0"/>
              <a:t>Note that the workbook automatically color codes things so you can tell what is text and what is a variable</a:t>
            </a:r>
          </a:p>
          <a:p>
            <a:endParaRPr lang="en-US" dirty="0"/>
          </a:p>
        </p:txBody>
      </p:sp>
      <p:pic>
        <p:nvPicPr>
          <p:cNvPr id="7" name="Content Placeholder 5">
            <a:extLst>
              <a:ext uri="{FF2B5EF4-FFF2-40B4-BE49-F238E27FC236}">
                <a16:creationId xmlns:a16="http://schemas.microsoft.com/office/drawing/2014/main" id="{FE315E4D-E86E-4ABF-B628-2E8EC67483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4139667" y="1465581"/>
            <a:ext cx="4677983" cy="30175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326847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4CAB806-AE93-4688-876B-32216113D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Regular Expressions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584ACE0-7F56-4754-A308-3FE3AEFEC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Scanning text to find things</a:t>
            </a:r>
          </a:p>
        </p:txBody>
      </p:sp>
    </p:spTree>
    <p:extLst>
      <p:ext uri="{BB962C8B-B14F-4D97-AF65-F5344CB8AC3E}">
        <p14:creationId xmlns:p14="http://schemas.microsoft.com/office/powerpoint/2010/main" val="23128887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68CDDC8-7025-470D-8F72-AF5F0438B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regex search in Python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63BE4B2-4231-4F5C-BB52-3B9BCBEAB3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 forgot how to do it!  </a:t>
            </a:r>
          </a:p>
          <a:p>
            <a:r>
              <a:rPr lang="en-US" dirty="0"/>
              <a:t>Let’s google search “regex in python”</a:t>
            </a:r>
          </a:p>
          <a:p>
            <a:r>
              <a:rPr lang="en-US" dirty="0"/>
              <a:t>Ah!  There’s an import statement and a search statement</a:t>
            </a:r>
          </a:p>
          <a:p>
            <a:r>
              <a:rPr lang="en-US" dirty="0"/>
              <a:t>We can test this in our notebook</a:t>
            </a:r>
          </a:p>
          <a:p>
            <a:r>
              <a:rPr lang="en-US" dirty="0"/>
              <a:t>Source: </a:t>
            </a:r>
            <a:r>
              <a:rPr lang="en-US" dirty="0">
                <a:hlinkClick r:id="rId2"/>
              </a:rPr>
              <a:t>https://www.w3schools.com/python/python_regex.asp</a:t>
            </a:r>
            <a:r>
              <a:rPr lang="en-US" dirty="0"/>
              <a:t> 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B33579E-59D2-4088-8F55-9293261055C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4664075" y="1644303"/>
            <a:ext cx="3702050" cy="24978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015534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E6B42-1ABE-43B5-92F4-A6CF95985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Python regex match?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BA579-09A7-423E-86B5-19C4CCBC9C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22958" y="1384301"/>
            <a:ext cx="3749041" cy="3017520"/>
          </a:xfrm>
        </p:spPr>
        <p:txBody>
          <a:bodyPr/>
          <a:lstStyle/>
          <a:p>
            <a:r>
              <a:rPr lang="en-US" dirty="0"/>
              <a:t>When you print it, it says it is an “object”</a:t>
            </a:r>
          </a:p>
          <a:p>
            <a:r>
              <a:rPr lang="en-US" dirty="0"/>
              <a:t>That’s because regular expressions capture lots of information</a:t>
            </a:r>
          </a:p>
          <a:p>
            <a:r>
              <a:rPr lang="en-US" dirty="0"/>
              <a:t>Notice it has multiple things:</a:t>
            </a:r>
          </a:p>
          <a:p>
            <a:pPr lvl="1"/>
            <a:r>
              <a:rPr lang="en-US" dirty="0"/>
              <a:t>The object itself</a:t>
            </a:r>
          </a:p>
          <a:p>
            <a:pPr lvl="1"/>
            <a:r>
              <a:rPr lang="en-US" dirty="0"/>
              <a:t>The span where the match was found</a:t>
            </a:r>
          </a:p>
          <a:p>
            <a:pPr lvl="2"/>
            <a:r>
              <a:rPr lang="en-US" dirty="0"/>
              <a:t>Start character within the string</a:t>
            </a:r>
          </a:p>
          <a:p>
            <a:pPr lvl="2"/>
            <a:r>
              <a:rPr lang="en-US" dirty="0"/>
              <a:t>Length of characters within the string</a:t>
            </a:r>
          </a:p>
          <a:p>
            <a:pPr lvl="1"/>
            <a:r>
              <a:rPr lang="en-US" dirty="0"/>
              <a:t>The exact text of the match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A4F12F1-F17F-485D-81FC-9E257D8236D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086040" y="2896583"/>
            <a:ext cx="4516057" cy="13096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17216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DAE53-83A6-44BC-A019-2F7D9940B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how will we do web scraping?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69AB2-E458-459C-9085-6BA9CBC81F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We’ll use a Python regex feature called </a:t>
            </a:r>
            <a:r>
              <a:rPr lang="en-US" b="1" dirty="0" err="1"/>
              <a:t>findall</a:t>
            </a:r>
            <a:r>
              <a:rPr lang="en-US" dirty="0"/>
              <a:t> which works with capture groups</a:t>
            </a:r>
          </a:p>
          <a:p>
            <a:r>
              <a:rPr lang="en-US" dirty="0"/>
              <a:t>We just browse around until we find something</a:t>
            </a:r>
          </a:p>
          <a:p>
            <a:r>
              <a:rPr lang="en-US" dirty="0"/>
              <a:t>In last week’s assignment, you created capture groups, so this is a perfect fit</a:t>
            </a:r>
          </a:p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0D7F3DD-0503-4CF4-8729-3BC4BD9722E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64075" y="1902713"/>
            <a:ext cx="3702050" cy="198101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095355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0C0F9-2ED4-AB1A-C3B7-10B35046B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ChatGPT!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731C5-4780-C5FA-15CD-82CD9D77512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If you prefer, instead of using a search engine, you can use ChatGPT or other similar AI features to get some simple code</a:t>
            </a:r>
          </a:p>
          <a:p>
            <a:r>
              <a:rPr lang="en-US" dirty="0"/>
              <a:t>Getting a simple block of code is the most reliable thing AI can do</a:t>
            </a:r>
          </a:p>
          <a:p>
            <a:r>
              <a:rPr lang="en-US" dirty="0"/>
              <a:t>If you do it, your example may be different than mine!</a:t>
            </a:r>
          </a:p>
          <a:p>
            <a:r>
              <a:rPr lang="en-US" dirty="0"/>
              <a:t>Try this:</a:t>
            </a:r>
          </a:p>
          <a:p>
            <a:pPr lvl="1"/>
            <a:r>
              <a:rPr lang="en-US" dirty="0"/>
              <a:t>“Write python code for </a:t>
            </a:r>
            <a:r>
              <a:rPr lang="en-US" dirty="0" err="1"/>
              <a:t>Jupyter</a:t>
            </a:r>
            <a:r>
              <a:rPr lang="en-US" dirty="0"/>
              <a:t> to search a string for all regular expression matches”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1DCBE37-9DC5-9533-1001-B8DD864C40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rcRect/>
          <a:stretch/>
        </p:blipFill>
        <p:spPr>
          <a:xfrm>
            <a:off x="4687726" y="1384300"/>
            <a:ext cx="3654747" cy="30178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38663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7D45B-C9DF-47AE-B940-E5DFFF8E0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try searching for all bullet points</a:t>
            </a:r>
          </a:p>
        </p:txBody>
      </p:sp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661F2ACC-EB05-4BF7-B308-162BA7B29F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7011" y="1384300"/>
            <a:ext cx="7234427" cy="30178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4690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90BBC-7E80-40C0-B3A3-0720DF09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Alright, you know everything you need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9B4EA-4315-491A-87B9-E67DE134C2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week, you practiced regexes:</a:t>
            </a:r>
          </a:p>
          <a:p>
            <a:pPr lvl="1"/>
            <a:r>
              <a:rPr lang="en-US" dirty="0"/>
              <a:t>Fetched a webpage manually</a:t>
            </a:r>
          </a:p>
          <a:p>
            <a:pPr lvl="1"/>
            <a:r>
              <a:rPr lang="en-US" dirty="0"/>
              <a:t>Wrote a regex to find data (movie title, description, release date, score, thumbnail)</a:t>
            </a:r>
          </a:p>
          <a:p>
            <a:pPr lvl="1"/>
            <a:r>
              <a:rPr lang="en-US" dirty="0"/>
              <a:t>Gathered the results by hand and saved to excel</a:t>
            </a:r>
          </a:p>
          <a:p>
            <a:r>
              <a:rPr lang="en-US" dirty="0"/>
              <a:t>This week you learned how to:</a:t>
            </a:r>
          </a:p>
          <a:p>
            <a:pPr lvl="1"/>
            <a:r>
              <a:rPr lang="en-US" dirty="0"/>
              <a:t>Create a Python notebook in </a:t>
            </a:r>
            <a:r>
              <a:rPr lang="en-US" dirty="0" err="1"/>
              <a:t>Jupyter</a:t>
            </a:r>
            <a:endParaRPr lang="en-US" dirty="0"/>
          </a:p>
          <a:p>
            <a:pPr lvl="1"/>
            <a:r>
              <a:rPr lang="en-US" dirty="0"/>
              <a:t>Fetch the text of a webpage using urllib3</a:t>
            </a:r>
          </a:p>
          <a:p>
            <a:pPr lvl="1"/>
            <a:r>
              <a:rPr lang="en-US" dirty="0"/>
              <a:t>Scan text to find matches using re</a:t>
            </a:r>
          </a:p>
          <a:p>
            <a:pPr lvl="1"/>
            <a:r>
              <a:rPr lang="en-US" dirty="0"/>
              <a:t>Print out the results</a:t>
            </a:r>
          </a:p>
          <a:p>
            <a:r>
              <a:rPr lang="en-US" dirty="0"/>
              <a:t>Let’s </a:t>
            </a:r>
            <a:r>
              <a:rPr lang="en-US" b="1" dirty="0"/>
              <a:t>automate</a:t>
            </a:r>
            <a:r>
              <a:rPr lang="en-US" dirty="0"/>
              <a:t> everything we did last week in </a:t>
            </a:r>
            <a:r>
              <a:rPr lang="en-US" dirty="0" err="1"/>
              <a:t>Jupyter</a:t>
            </a:r>
            <a:r>
              <a:rPr lang="en-US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161699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F38064-2BED-4AFC-80A2-EF46EE9E5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Weekly Assignment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A21A5-6837-4F7A-8B71-AC68ED6803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 last week’s regular expressions into a notebook</a:t>
            </a:r>
          </a:p>
        </p:txBody>
      </p:sp>
    </p:spTree>
    <p:extLst>
      <p:ext uri="{BB962C8B-B14F-4D97-AF65-F5344CB8AC3E}">
        <p14:creationId xmlns:p14="http://schemas.microsoft.com/office/powerpoint/2010/main" val="127661656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631D99C-9C5D-4091-AF3E-14DD8061E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Visual Studio Code and Python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9358F5-510C-459B-8C67-FB8668FF2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went through this in class – you followed along, right?</a:t>
            </a:r>
          </a:p>
          <a:p>
            <a:r>
              <a:rPr lang="en-US" dirty="0"/>
              <a:t>Get </a:t>
            </a:r>
            <a:r>
              <a:rPr lang="en-US" dirty="0" err="1"/>
              <a:t>Jupyter</a:t>
            </a:r>
            <a:r>
              <a:rPr lang="en-US" dirty="0"/>
              <a:t> working using Visual Studio Code</a:t>
            </a:r>
          </a:p>
          <a:p>
            <a:r>
              <a:rPr lang="en-US" dirty="0"/>
              <a:t>Create a notebook that automates the work you did in week one</a:t>
            </a:r>
          </a:p>
          <a:p>
            <a:r>
              <a:rPr lang="en-US" dirty="0"/>
              <a:t>Make sure if you run your notebook from the beginning that it produces all the work</a:t>
            </a:r>
          </a:p>
          <a:p>
            <a:r>
              <a:rPr lang="en-US" dirty="0"/>
              <a:t>Upload your </a:t>
            </a:r>
            <a:r>
              <a:rPr lang="en-US" dirty="0" err="1"/>
              <a:t>Jupyter</a:t>
            </a:r>
            <a:r>
              <a:rPr lang="en-US" dirty="0"/>
              <a:t> notebook to the assignment page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672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9DC6F-0FF4-459B-8936-AAE858FBF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dirty="0" err="1"/>
              <a:t>Jupyter</a:t>
            </a:r>
            <a:r>
              <a:rPr lang="en-US" dirty="0"/>
              <a:t> notebook for scraping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C13EA4-93D4-4245-9FC6-0B4D33923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Your </a:t>
            </a:r>
            <a:r>
              <a:rPr lang="en-US" dirty="0" err="1"/>
              <a:t>Jupyter</a:t>
            </a:r>
            <a:r>
              <a:rPr lang="en-US" dirty="0"/>
              <a:t> notebook should do the following</a:t>
            </a:r>
          </a:p>
          <a:p>
            <a:pPr lvl="1"/>
            <a:r>
              <a:rPr lang="en-US" dirty="0"/>
              <a:t>Load the </a:t>
            </a:r>
            <a:r>
              <a:rPr lang="en-US" dirty="0" err="1"/>
              <a:t>metacritic</a:t>
            </a:r>
            <a:r>
              <a:rPr lang="en-US" dirty="0"/>
              <a:t> movies by year page for a year</a:t>
            </a:r>
          </a:p>
          <a:p>
            <a:pPr lvl="1"/>
            <a:r>
              <a:rPr lang="en-US" dirty="0"/>
              <a:t>Use regular expressions you wrote last week to parse data</a:t>
            </a:r>
          </a:p>
          <a:p>
            <a:pPr lvl="1"/>
            <a:r>
              <a:rPr lang="en-US" dirty="0"/>
              <a:t>Print the data out in a way that looks appealing</a:t>
            </a:r>
          </a:p>
          <a:p>
            <a:r>
              <a:rPr lang="en-US" dirty="0"/>
              <a:t>You don’t need to do the following</a:t>
            </a:r>
          </a:p>
          <a:p>
            <a:pPr lvl="1"/>
            <a:r>
              <a:rPr lang="en-US" dirty="0"/>
              <a:t>Write optimized code – that’s okay!  It doesn’t need to be fast</a:t>
            </a:r>
          </a:p>
          <a:p>
            <a:pPr lvl="1"/>
            <a:r>
              <a:rPr lang="en-US" dirty="0"/>
              <a:t>Write perfect formatting – I will accept anything readable!</a:t>
            </a:r>
          </a:p>
          <a:p>
            <a:pPr lvl="1"/>
            <a:r>
              <a:rPr lang="en-US" dirty="0"/>
              <a:t>Become a Python wizard – it’s okay to just mix together help from each other</a:t>
            </a:r>
          </a:p>
          <a:p>
            <a:r>
              <a:rPr lang="en-US" dirty="0"/>
              <a:t>Best way to succeed?</a:t>
            </a:r>
          </a:p>
          <a:p>
            <a:pPr lvl="1"/>
            <a:r>
              <a:rPr lang="en-US" dirty="0"/>
              <a:t>Write questions in the student discussion!</a:t>
            </a:r>
          </a:p>
          <a:p>
            <a:pPr lvl="1"/>
            <a:r>
              <a:rPr lang="en-US" dirty="0"/>
              <a:t>Share notes and ideas!</a:t>
            </a:r>
          </a:p>
          <a:p>
            <a:pPr lvl="1"/>
            <a:r>
              <a:rPr lang="en-US" dirty="0"/>
              <a:t>Solve the assignment as a team rather than as an individual!</a:t>
            </a:r>
          </a:p>
        </p:txBody>
      </p:sp>
    </p:spTree>
    <p:extLst>
      <p:ext uri="{BB962C8B-B14F-4D97-AF65-F5344CB8AC3E}">
        <p14:creationId xmlns:p14="http://schemas.microsoft.com/office/powerpoint/2010/main" val="20816882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EB3CC-965A-4091-A35D-1994F3E62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should your notebook do?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048E5-D7F1-41D9-9527-568BB32A4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Weekly Assignment</a:t>
            </a:r>
          </a:p>
          <a:p>
            <a:pPr lvl="1"/>
            <a:r>
              <a:rPr lang="en-US" dirty="0"/>
              <a:t>5 points: Your </a:t>
            </a:r>
            <a:r>
              <a:rPr lang="en-US" dirty="0" err="1"/>
              <a:t>Jupyter</a:t>
            </a:r>
            <a:r>
              <a:rPr lang="en-US" dirty="0"/>
              <a:t> notebook is </a:t>
            </a:r>
            <a:r>
              <a:rPr lang="en-US" b="1" dirty="0"/>
              <a:t>clearly written</a:t>
            </a:r>
            <a:r>
              <a:rPr lang="en-US" dirty="0"/>
              <a:t> with comments and clear output</a:t>
            </a:r>
            <a:endParaRPr lang="en-US" b="1" dirty="0"/>
          </a:p>
          <a:p>
            <a:pPr lvl="1"/>
            <a:r>
              <a:rPr lang="en-US" dirty="0"/>
              <a:t>5 points: Your notebook successfully captures </a:t>
            </a:r>
            <a:r>
              <a:rPr lang="en-US" b="1" dirty="0"/>
              <a:t>all data points </a:t>
            </a:r>
            <a:r>
              <a:rPr lang="en-US" dirty="0"/>
              <a:t>specified in the assignment</a:t>
            </a:r>
          </a:p>
          <a:p>
            <a:r>
              <a:rPr lang="en-US" dirty="0"/>
              <a:t>Homework Discussion Board</a:t>
            </a:r>
          </a:p>
          <a:p>
            <a:pPr lvl="1"/>
            <a:r>
              <a:rPr lang="en-US" dirty="0"/>
              <a:t>5 points: You participated in this week’s homework board</a:t>
            </a:r>
          </a:p>
          <a:p>
            <a:endParaRPr lang="en-US" dirty="0"/>
          </a:p>
          <a:p>
            <a:r>
              <a:rPr lang="en-US" dirty="0"/>
              <a:t>Common problems:</a:t>
            </a:r>
          </a:p>
          <a:p>
            <a:pPr lvl="1"/>
            <a:r>
              <a:rPr lang="en-US" dirty="0"/>
              <a:t>You wrote the notebook, but you didn’t test it</a:t>
            </a:r>
          </a:p>
          <a:p>
            <a:pPr lvl="1"/>
            <a:r>
              <a:rPr lang="en-US" dirty="0"/>
              <a:t>You gathered data but it doesn’t match up – the </a:t>
            </a:r>
            <a:r>
              <a:rPr lang="en-US" dirty="0" err="1"/>
              <a:t>metascore</a:t>
            </a:r>
            <a:r>
              <a:rPr lang="en-US" dirty="0"/>
              <a:t> for movie A is matched to the title for B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3935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2D823-0451-C492-463F-01BAC10BF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problems and 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8BC22-7412-013F-DEB4-35172E26D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Some articles I’ve written with helpful advice:</a:t>
            </a:r>
          </a:p>
          <a:p>
            <a:pPr lvl="1"/>
            <a:r>
              <a:rPr lang="en-US" dirty="0">
                <a:hlinkClick r:id="rId2"/>
              </a:rPr>
              <a:t>https://medium.com/tedspence-com/teaching-python-and-jupyter-cbffb68e2194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3"/>
              </a:rPr>
              <a:t>https://medium.com/codex/practical-data-analytics-for-movies-89f44d04712d</a:t>
            </a:r>
            <a:endParaRPr lang="en-US" dirty="0"/>
          </a:p>
          <a:p>
            <a:pPr lvl="1"/>
            <a:r>
              <a:rPr lang="en-US" dirty="0">
                <a:hlinkClick r:id="rId4"/>
              </a:rPr>
              <a:t>https://medium.com/codex/what-makes-a-jupyter-notebook-good-45ab30623f24</a:t>
            </a:r>
            <a:endParaRPr lang="en-US" dirty="0"/>
          </a:p>
          <a:p>
            <a:r>
              <a:rPr lang="en-US" dirty="0"/>
              <a:t>My GitHub repository has lots of helpful examples:</a:t>
            </a:r>
          </a:p>
          <a:p>
            <a:pPr lvl="1"/>
            <a:r>
              <a:rPr lang="en-US" dirty="0">
                <a:hlinkClick r:id="rId5"/>
              </a:rPr>
              <a:t>https://github.com/tspence/data-analysis-class-resources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We’ll talk more </a:t>
            </a:r>
            <a:r>
              <a:rPr lang="en-US"/>
              <a:t>GitHub next week!</a:t>
            </a:r>
            <a:endParaRPr lang="en-US" dirty="0"/>
          </a:p>
          <a:p>
            <a:r>
              <a:rPr lang="en-US" dirty="0"/>
              <a:t>Some techniques you should understand:</a:t>
            </a:r>
          </a:p>
          <a:p>
            <a:pPr lvl="1"/>
            <a:r>
              <a:rPr lang="en-US" dirty="0"/>
              <a:t>Edit, run, review results – this is the debugging cycle</a:t>
            </a:r>
          </a:p>
          <a:p>
            <a:pPr lvl="1"/>
            <a:r>
              <a:rPr lang="en-US" dirty="0"/>
              <a:t>Spot checks – after you gather some data, look at a random movie – is its data correct?</a:t>
            </a:r>
          </a:p>
          <a:p>
            <a:pPr lvl="1"/>
            <a:r>
              <a:rPr lang="en-US" dirty="0"/>
              <a:t>Try running the code against a different year and see if it still works</a:t>
            </a:r>
          </a:p>
          <a:p>
            <a:pPr lvl="1"/>
            <a:r>
              <a:rPr lang="en-US" dirty="0"/>
              <a:t>If something seems weird, share it on the student discussion board!</a:t>
            </a:r>
          </a:p>
        </p:txBody>
      </p:sp>
    </p:spTree>
    <p:extLst>
      <p:ext uri="{BB962C8B-B14F-4D97-AF65-F5344CB8AC3E}">
        <p14:creationId xmlns:p14="http://schemas.microsoft.com/office/powerpoint/2010/main" val="37762450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4800600"/>
            <a:ext cx="9141619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4750737"/>
            <a:ext cx="9141619" cy="4800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325755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Many question marks on black background">
            <a:extLst>
              <a:ext uri="{FF2B5EF4-FFF2-40B4-BE49-F238E27FC236}">
                <a16:creationId xmlns:a16="http://schemas.microsoft.com/office/drawing/2014/main" id="{8F564D17-BF49-49B2-B8AA-53F5D663E9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</a:blip>
          <a:srcRect t="7787"/>
          <a:stretch/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31C9EB-80AD-4435-A283-E36CBB615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569214"/>
            <a:ext cx="7543800" cy="26746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8000" spc="-50">
                <a:solidFill>
                  <a:srgbClr val="FFFFFF"/>
                </a:solidFill>
              </a:rPr>
              <a:t>Any questions?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71767D-5FF7-4508-B8B7-BB60FF3AB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05743" y="3257550"/>
            <a:ext cx="7406640" cy="0"/>
          </a:xfrm>
          <a:prstGeom prst="line">
            <a:avLst/>
          </a:prstGeom>
          <a:ln w="6350">
            <a:solidFill>
              <a:schemeClr val="tx1">
                <a:alpha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C4E89C94-E462-4566-A15A-32835FD68B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4750737"/>
            <a:ext cx="9143989" cy="498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25F4A20-71FB-4A26-92E2-89DED49264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50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11585</TotalTime>
  <Words>3257</Words>
  <Application>Microsoft Office PowerPoint</Application>
  <PresentationFormat>On-screen Show (16:9)</PresentationFormat>
  <Paragraphs>346</Paragraphs>
  <Slides>50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</vt:lpstr>
      <vt:lpstr>Calibri</vt:lpstr>
      <vt:lpstr>Calibri Light</vt:lpstr>
      <vt:lpstr>Consolas</vt:lpstr>
      <vt:lpstr>Courier New</vt:lpstr>
      <vt:lpstr>Retrospect</vt:lpstr>
      <vt:lpstr>Advanced web scraping</vt:lpstr>
      <vt:lpstr>Last Week’s Assignment</vt:lpstr>
      <vt:lpstr>Metacritic site redesign!</vt:lpstr>
      <vt:lpstr>What are we building?</vt:lpstr>
      <vt:lpstr>Why are you making us learn Regex?</vt:lpstr>
      <vt:lpstr>How does the professor write regex?</vt:lpstr>
      <vt:lpstr>Useful information</vt:lpstr>
      <vt:lpstr>What is “Escaping” or “Encoding”?</vt:lpstr>
      <vt:lpstr>What are we going to do with regex?</vt:lpstr>
      <vt:lpstr>Automating data collection</vt:lpstr>
      <vt:lpstr>Install Python (Windows)</vt:lpstr>
      <vt:lpstr>Install Python (Mac)</vt:lpstr>
      <vt:lpstr>Visual Studio Code Editor</vt:lpstr>
      <vt:lpstr>Creating your project</vt:lpstr>
      <vt:lpstr>Putting it all together</vt:lpstr>
      <vt:lpstr>Install Jupyter extension in VS Code</vt:lpstr>
      <vt:lpstr>Create a Jupyter Notebook</vt:lpstr>
      <vt:lpstr>Turn on “Notebook Line Numbers”</vt:lpstr>
      <vt:lpstr>What did we just do?</vt:lpstr>
      <vt:lpstr>Good and bad notebooks</vt:lpstr>
      <vt:lpstr>What is a “Notebook”?</vt:lpstr>
      <vt:lpstr>More powerful than R, easier than C++</vt:lpstr>
      <vt:lpstr>A mixture of writing and research</vt:lpstr>
      <vt:lpstr>Working with code in your notebook</vt:lpstr>
      <vt:lpstr>Understanding error messages</vt:lpstr>
      <vt:lpstr>Real World Jupyter</vt:lpstr>
      <vt:lpstr>What do I want my program to do?</vt:lpstr>
      <vt:lpstr>Retrieve data from a website</vt:lpstr>
      <vt:lpstr>Using ChatGPT!</vt:lpstr>
      <vt:lpstr>Let’s put this in our notebook</vt:lpstr>
      <vt:lpstr>Quick detour: What is “UTF-8”?</vt:lpstr>
      <vt:lpstr>Let’s get back to our notebook</vt:lpstr>
      <vt:lpstr>Installing a Python library in Jupyter</vt:lpstr>
      <vt:lpstr>Let’s try executing our workbook</vt:lpstr>
      <vt:lpstr>Making our output readable</vt:lpstr>
      <vt:lpstr>Why does “Encoding” keep showing up?</vt:lpstr>
      <vt:lpstr>Using string interpolation</vt:lpstr>
      <vt:lpstr>Python Regular Expressions</vt:lpstr>
      <vt:lpstr>Basic regex search in Python</vt:lpstr>
      <vt:lpstr>What is a Python regex match?</vt:lpstr>
      <vt:lpstr>So how will we do web scraping?</vt:lpstr>
      <vt:lpstr>Using ChatGPT!</vt:lpstr>
      <vt:lpstr>Let’s try searching for all bullet points</vt:lpstr>
      <vt:lpstr>Alright, you know everything you need</vt:lpstr>
      <vt:lpstr>Weekly Assignment</vt:lpstr>
      <vt:lpstr>Install Visual Studio Code and Python</vt:lpstr>
      <vt:lpstr>Create a Jupyter notebook for scraping</vt:lpstr>
      <vt:lpstr>What should your notebook do?</vt:lpstr>
      <vt:lpstr>Common problems and answers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Introduction  and  Automated Web Scraping</dc:title>
  <dc:creator>Ted Spence</dc:creator>
  <cp:lastModifiedBy>Denis Samitov</cp:lastModifiedBy>
  <cp:revision>64</cp:revision>
  <dcterms:modified xsi:type="dcterms:W3CDTF">2024-10-01T20:10:34Z</dcterms:modified>
</cp:coreProperties>
</file>